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825"/>
  </p:normalViewPr>
  <p:slideViewPr>
    <p:cSldViewPr snapToGrid="0">
      <p:cViewPr varScale="1">
        <p:scale>
          <a:sx n="107" d="100"/>
          <a:sy n="107" d="100"/>
        </p:scale>
        <p:origin x="7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5572C-A6CD-ED47-22E4-AFFD03362B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51E7B3-DD8C-5DE7-3757-4C4104867E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87F26D-CBBC-AA34-CD85-0C19C1C2FD23}"/>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5" name="Footer Placeholder 4">
            <a:extLst>
              <a:ext uri="{FF2B5EF4-FFF2-40B4-BE49-F238E27FC236}">
                <a16:creationId xmlns:a16="http://schemas.microsoft.com/office/drawing/2014/main" id="{A27D4345-B3C4-74ED-4440-003B270B20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214C9-0B03-A910-6619-D2698C4267BD}"/>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659286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27B73-BAE6-D222-9CC9-2EA79C7BB2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53EB1F-A96F-4E19-FE90-64AF05DD57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6599A-53C7-844F-C01E-2565C104E4BF}"/>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5" name="Footer Placeholder 4">
            <a:extLst>
              <a:ext uri="{FF2B5EF4-FFF2-40B4-BE49-F238E27FC236}">
                <a16:creationId xmlns:a16="http://schemas.microsoft.com/office/drawing/2014/main" id="{CBB8DE63-7BCC-BD1C-22C6-5269B0419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3DB0CC-AD93-5A2A-BAEB-AFB445B3F1CE}"/>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558169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C17F4-69D2-97C7-5DC4-C2B52B3187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5F4083-11B8-1C4B-D1E9-85E3E88AE3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738DA6-E36A-6972-E54D-0E724B97D879}"/>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5" name="Footer Placeholder 4">
            <a:extLst>
              <a:ext uri="{FF2B5EF4-FFF2-40B4-BE49-F238E27FC236}">
                <a16:creationId xmlns:a16="http://schemas.microsoft.com/office/drawing/2014/main" id="{D7AE2B2C-66D9-ABC0-B0AA-11785ACFB1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33595F-D74C-808C-712F-E4027E713BD3}"/>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3213556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7D1E4-972A-D957-7868-0C273F4CE9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65A413-D54D-C056-E20A-863F553DD0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4CCEFD-F555-35BC-4096-F5038D23E5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728CE4-C8F5-A0EF-661E-DB831A9C7A06}"/>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6" name="Footer Placeholder 5">
            <a:extLst>
              <a:ext uri="{FF2B5EF4-FFF2-40B4-BE49-F238E27FC236}">
                <a16:creationId xmlns:a16="http://schemas.microsoft.com/office/drawing/2014/main" id="{93470446-B86A-33D3-BAD4-254F9873AB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ADFD90-9DF9-1452-58EE-E148E25E0AB8}"/>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1848366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478CF-3A07-70A4-F33C-0FD208C5F3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BA7CDE-018B-000C-23EC-3602ECD760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81089F-097E-0096-8CC2-D241F44201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0830B3-E36B-C612-88F9-58557B6492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A9F7A2-73B0-1072-78CD-C627932BB0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8EB8ED-3295-AEBF-6BFB-E8D7B86A4AD4}"/>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8" name="Footer Placeholder 7">
            <a:extLst>
              <a:ext uri="{FF2B5EF4-FFF2-40B4-BE49-F238E27FC236}">
                <a16:creationId xmlns:a16="http://schemas.microsoft.com/office/drawing/2014/main" id="{C3A02480-4DCE-15C0-FADB-E8C75B3E42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4DA33E-2539-AA5C-2996-98932EF9479D}"/>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168063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BABC-7414-DD13-81A7-BE71B9BD50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64D01A-FC49-980C-09FC-9A6182276B80}"/>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4" name="Footer Placeholder 3">
            <a:extLst>
              <a:ext uri="{FF2B5EF4-FFF2-40B4-BE49-F238E27FC236}">
                <a16:creationId xmlns:a16="http://schemas.microsoft.com/office/drawing/2014/main" id="{BCB329FE-438F-24D5-0669-8590BC80ED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737F17-73A7-1465-7309-091826F05CA2}"/>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165714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D871EB-04A8-7E23-A148-EA874436C784}"/>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3" name="Footer Placeholder 2">
            <a:extLst>
              <a:ext uri="{FF2B5EF4-FFF2-40B4-BE49-F238E27FC236}">
                <a16:creationId xmlns:a16="http://schemas.microsoft.com/office/drawing/2014/main" id="{303D923C-8994-9F14-2552-03CED1F688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E729D2-26E6-7A53-85C9-515ADD2CB896}"/>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3363060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FFFB5-4266-0F72-3F30-F49A80705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96389B-F9D2-EC44-AE08-DCBAB9FA44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63C898-A551-97AD-6541-93DE5DC1B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2FEABE-28AF-C7C4-C05E-3F56920E2C53}"/>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6" name="Footer Placeholder 5">
            <a:extLst>
              <a:ext uri="{FF2B5EF4-FFF2-40B4-BE49-F238E27FC236}">
                <a16:creationId xmlns:a16="http://schemas.microsoft.com/office/drawing/2014/main" id="{2D26BAAF-F3DE-BCE7-73C6-7F4FE0EDB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31C2EE-ECE9-4E11-1863-0351DD54372D}"/>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667289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3E172-E8A1-0DC6-AFC7-79B6FCCB8A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78B548-8DE3-B581-6309-0019DD9AB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F934B8-EF22-4ADD-215D-C8AF90EC2F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5E5C36-AF2B-1180-B209-3790014286A5}"/>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6" name="Footer Placeholder 5">
            <a:extLst>
              <a:ext uri="{FF2B5EF4-FFF2-40B4-BE49-F238E27FC236}">
                <a16:creationId xmlns:a16="http://schemas.microsoft.com/office/drawing/2014/main" id="{0D8A2F47-04A9-565C-D4A3-FA87D33E5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F7C932-36B1-1212-23DC-68FFFE3326BA}"/>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1320898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8B640-E7B3-8519-FA4D-9928EFC57F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AF3E9D-1135-78A1-801F-E15CDADF8E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B1E84-3C40-352D-D5BA-A337F4D9DC47}"/>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5" name="Footer Placeholder 4">
            <a:extLst>
              <a:ext uri="{FF2B5EF4-FFF2-40B4-BE49-F238E27FC236}">
                <a16:creationId xmlns:a16="http://schemas.microsoft.com/office/drawing/2014/main" id="{32E6FF65-22C1-BB13-3F20-D16572CC69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5C49B2-7686-F8B5-D186-C458E0D164E2}"/>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394840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CB0400-F6C0-0ADD-4D75-9FE7342561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92A868-28CB-6665-8C83-5A3CFB9B2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84BC0-A702-E215-32F9-5154A2011985}"/>
              </a:ext>
            </a:extLst>
          </p:cNvPr>
          <p:cNvSpPr>
            <a:spLocks noGrp="1"/>
          </p:cNvSpPr>
          <p:nvPr>
            <p:ph type="dt" sz="half" idx="10"/>
          </p:nvPr>
        </p:nvSpPr>
        <p:spPr/>
        <p:txBody>
          <a:bodyPr/>
          <a:lstStyle/>
          <a:p>
            <a:fld id="{8F6BEC56-2126-3048-A68B-85C354AC3EDD}" type="datetimeFigureOut">
              <a:rPr lang="en-US" smtClean="0"/>
              <a:t>3/12/24</a:t>
            </a:fld>
            <a:endParaRPr lang="en-US"/>
          </a:p>
        </p:txBody>
      </p:sp>
      <p:sp>
        <p:nvSpPr>
          <p:cNvPr id="5" name="Footer Placeholder 4">
            <a:extLst>
              <a:ext uri="{FF2B5EF4-FFF2-40B4-BE49-F238E27FC236}">
                <a16:creationId xmlns:a16="http://schemas.microsoft.com/office/drawing/2014/main" id="{91754960-72FE-3AFD-028A-B2B9287777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CA795C-A8CD-A073-327A-CD7C8E2D51BD}"/>
              </a:ext>
            </a:extLst>
          </p:cNvPr>
          <p:cNvSpPr>
            <a:spLocks noGrp="1"/>
          </p:cNvSpPr>
          <p:nvPr>
            <p:ph type="sldNum" sz="quarter" idx="12"/>
          </p:nvPr>
        </p:nvSpPr>
        <p:spPr/>
        <p:txBody>
          <a:bodyPr/>
          <a:lstStyle/>
          <a:p>
            <a:fld id="{99173209-B841-214E-9A14-F4776554881F}" type="slidenum">
              <a:rPr lang="en-US" smtClean="0"/>
              <a:t>‹#›</a:t>
            </a:fld>
            <a:endParaRPr lang="en-US"/>
          </a:p>
        </p:txBody>
      </p:sp>
    </p:spTree>
    <p:extLst>
      <p:ext uri="{BB962C8B-B14F-4D97-AF65-F5344CB8AC3E}">
        <p14:creationId xmlns:p14="http://schemas.microsoft.com/office/powerpoint/2010/main" val="4158385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2A053E-6CE5-F487-081A-4D6A45CD38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0BC875-B76F-8395-B647-448620BBB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5CACED-89E6-CFE3-64BB-678DFBFB7D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6BEC56-2126-3048-A68B-85C354AC3EDD}" type="datetimeFigureOut">
              <a:rPr lang="en-US" smtClean="0"/>
              <a:t>3/12/24</a:t>
            </a:fld>
            <a:endParaRPr lang="en-US"/>
          </a:p>
        </p:txBody>
      </p:sp>
      <p:sp>
        <p:nvSpPr>
          <p:cNvPr id="5" name="Footer Placeholder 4">
            <a:extLst>
              <a:ext uri="{FF2B5EF4-FFF2-40B4-BE49-F238E27FC236}">
                <a16:creationId xmlns:a16="http://schemas.microsoft.com/office/drawing/2014/main" id="{15EC12BC-3DD3-D905-4734-E30027E54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4372C21-3BDC-3BDB-555B-4614CB05D5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173209-B841-214E-9A14-F4776554881F}" type="slidenum">
              <a:rPr lang="en-US" smtClean="0"/>
              <a:t>‹#›</a:t>
            </a:fld>
            <a:endParaRPr lang="en-US"/>
          </a:p>
        </p:txBody>
      </p:sp>
    </p:spTree>
    <p:extLst>
      <p:ext uri="{BB962C8B-B14F-4D97-AF65-F5344CB8AC3E}">
        <p14:creationId xmlns:p14="http://schemas.microsoft.com/office/powerpoint/2010/main" val="1675287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4A107-EE8A-77B3-ADBA-D8F62212726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0F0667C-9FCF-F924-C5B9-EC2AFACFC51B}"/>
              </a:ext>
            </a:extLst>
          </p:cNvPr>
          <p:cNvSpPr>
            <a:spLocks noGrp="1"/>
          </p:cNvSpPr>
          <p:nvPr>
            <p:ph type="subTitle" idx="1"/>
          </p:nvPr>
        </p:nvSpPr>
        <p:spPr/>
        <p:txBody>
          <a:bodyPr/>
          <a:lstStyle/>
          <a:p>
            <a:endParaRPr lang="en-US"/>
          </a:p>
        </p:txBody>
      </p:sp>
      <p:pic>
        <p:nvPicPr>
          <p:cNvPr id="5" name="Picture 4" descr="Aircraft jet engine turbine">
            <a:extLst>
              <a:ext uri="{FF2B5EF4-FFF2-40B4-BE49-F238E27FC236}">
                <a16:creationId xmlns:a16="http://schemas.microsoft.com/office/drawing/2014/main" id="{7CCFFC99-8FE5-D7C6-B3EA-9FFB8D39E55B}"/>
              </a:ext>
            </a:extLst>
          </p:cNvPr>
          <p:cNvPicPr>
            <a:picLocks noChangeAspect="1"/>
          </p:cNvPicPr>
          <p:nvPr/>
        </p:nvPicPr>
        <p:blipFill rotWithShape="1">
          <a:blip r:embed="rId2"/>
          <a:srcRect b="15605"/>
          <a:stretch/>
        </p:blipFill>
        <p:spPr>
          <a:xfrm>
            <a:off x="0" y="0"/>
            <a:ext cx="12192000" cy="6858000"/>
          </a:xfrm>
          <a:prstGeom prst="rect">
            <a:avLst/>
          </a:prstGeom>
        </p:spPr>
      </p:pic>
      <p:sp>
        <p:nvSpPr>
          <p:cNvPr id="6" name="TextBox 5">
            <a:extLst>
              <a:ext uri="{FF2B5EF4-FFF2-40B4-BE49-F238E27FC236}">
                <a16:creationId xmlns:a16="http://schemas.microsoft.com/office/drawing/2014/main" id="{F1DB787B-2117-1003-6130-1D5E453FD5F5}"/>
              </a:ext>
            </a:extLst>
          </p:cNvPr>
          <p:cNvSpPr txBox="1"/>
          <p:nvPr/>
        </p:nvSpPr>
        <p:spPr>
          <a:xfrm>
            <a:off x="7006281" y="5472877"/>
            <a:ext cx="5185719" cy="954107"/>
          </a:xfrm>
          <a:prstGeom prst="rect">
            <a:avLst/>
          </a:prstGeom>
          <a:noFill/>
        </p:spPr>
        <p:txBody>
          <a:bodyPr wrap="square" rtlCol="0">
            <a:spAutoFit/>
          </a:bodyPr>
          <a:lstStyle/>
          <a:p>
            <a:r>
              <a:rPr lang="en-US" sz="2800" b="1" dirty="0">
                <a:solidFill>
                  <a:schemeClr val="bg1"/>
                </a:solidFill>
                <a:latin typeface="Cadiz Bold" pitchFamily="2" charset="77"/>
              </a:rPr>
              <a:t>GE Aerospace</a:t>
            </a:r>
            <a:br>
              <a:rPr lang="en-US" sz="2800" b="1" dirty="0">
                <a:solidFill>
                  <a:schemeClr val="bg1"/>
                </a:solidFill>
                <a:latin typeface="Cadiz Bold" pitchFamily="2" charset="77"/>
              </a:rPr>
            </a:br>
            <a:r>
              <a:rPr lang="en-US" sz="2800" b="1" dirty="0">
                <a:solidFill>
                  <a:schemeClr val="bg1"/>
                </a:solidFill>
                <a:latin typeface="Cadiz Bold" pitchFamily="2" charset="77"/>
              </a:rPr>
              <a:t>Electrical Engineering Task 1</a:t>
            </a:r>
          </a:p>
        </p:txBody>
      </p:sp>
    </p:spTree>
    <p:extLst>
      <p:ext uri="{BB962C8B-B14F-4D97-AF65-F5344CB8AC3E}">
        <p14:creationId xmlns:p14="http://schemas.microsoft.com/office/powerpoint/2010/main" val="3056794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171F2-442C-6951-842C-6E75BC2A455E}"/>
              </a:ext>
            </a:extLst>
          </p:cNvPr>
          <p:cNvSpPr>
            <a:spLocks noGrp="1"/>
          </p:cNvSpPr>
          <p:nvPr>
            <p:ph type="title"/>
          </p:nvPr>
        </p:nvSpPr>
        <p:spPr/>
        <p:txBody>
          <a:bodyPr/>
          <a:lstStyle/>
          <a:p>
            <a:endParaRPr lang="en-US"/>
          </a:p>
        </p:txBody>
      </p:sp>
      <p:sp>
        <p:nvSpPr>
          <p:cNvPr id="5" name="Rectangle 4">
            <a:extLst>
              <a:ext uri="{FF2B5EF4-FFF2-40B4-BE49-F238E27FC236}">
                <a16:creationId xmlns:a16="http://schemas.microsoft.com/office/drawing/2014/main" id="{0DD1E04A-F69E-24F0-6F66-D5E6FA968A51}"/>
              </a:ext>
            </a:extLst>
          </p:cNvPr>
          <p:cNvSpPr/>
          <p:nvPr/>
        </p:nvSpPr>
        <p:spPr>
          <a:xfrm>
            <a:off x="0" y="0"/>
            <a:ext cx="12191999" cy="6858000"/>
          </a:xfrm>
          <a:prstGeom prst="rect">
            <a:avLst/>
          </a:prstGeom>
          <a:solidFill>
            <a:srgbClr val="0102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b="0" i="0" dirty="0">
              <a:solidFill>
                <a:srgbClr val="ECECEC"/>
              </a:solidFill>
              <a:effectLst/>
              <a:latin typeface="Söhne"/>
            </a:endParaRPr>
          </a:p>
        </p:txBody>
      </p:sp>
      <p:sp>
        <p:nvSpPr>
          <p:cNvPr id="11" name="TextBox 10">
            <a:extLst>
              <a:ext uri="{FF2B5EF4-FFF2-40B4-BE49-F238E27FC236}">
                <a16:creationId xmlns:a16="http://schemas.microsoft.com/office/drawing/2014/main" id="{B94702AC-AFB4-7CA9-A2AA-161B6694252A}"/>
              </a:ext>
            </a:extLst>
          </p:cNvPr>
          <p:cNvSpPr txBox="1"/>
          <p:nvPr/>
        </p:nvSpPr>
        <p:spPr>
          <a:xfrm>
            <a:off x="503184" y="520074"/>
            <a:ext cx="8204887" cy="1015663"/>
          </a:xfrm>
          <a:prstGeom prst="rect">
            <a:avLst/>
          </a:prstGeom>
          <a:noFill/>
        </p:spPr>
        <p:txBody>
          <a:bodyPr wrap="square" rtlCol="0">
            <a:spAutoFit/>
          </a:bodyPr>
          <a:lstStyle/>
          <a:p>
            <a:pPr algn="l"/>
            <a:r>
              <a:rPr lang="en-US" sz="2400" b="1" dirty="0">
                <a:solidFill>
                  <a:srgbClr val="ECECEC"/>
                </a:solidFill>
                <a:effectLst/>
                <a:latin typeface="Cadiz Bold" pitchFamily="2" charset="77"/>
              </a:rPr>
              <a:t>Design Your Power Distribution</a:t>
            </a:r>
          </a:p>
          <a:p>
            <a:pPr algn="l"/>
            <a:br>
              <a:rPr lang="en-US" dirty="0">
                <a:solidFill>
                  <a:srgbClr val="ECECEC"/>
                </a:solidFill>
                <a:effectLst/>
                <a:latin typeface="Cadiz" pitchFamily="2" charset="77"/>
              </a:rPr>
            </a:br>
            <a:endParaRPr lang="en-US" dirty="0">
              <a:latin typeface="Cadiz" pitchFamily="2" charset="77"/>
            </a:endParaRPr>
          </a:p>
        </p:txBody>
      </p:sp>
      <p:sp>
        <p:nvSpPr>
          <p:cNvPr id="13" name="TextBox 12">
            <a:extLst>
              <a:ext uri="{FF2B5EF4-FFF2-40B4-BE49-F238E27FC236}">
                <a16:creationId xmlns:a16="http://schemas.microsoft.com/office/drawing/2014/main" id="{2ACD8D5D-69CE-8347-507C-BF66783B88C2}"/>
              </a:ext>
            </a:extLst>
          </p:cNvPr>
          <p:cNvSpPr txBox="1"/>
          <p:nvPr/>
        </p:nvSpPr>
        <p:spPr>
          <a:xfrm>
            <a:off x="503184" y="1134439"/>
            <a:ext cx="4257620" cy="5339923"/>
          </a:xfrm>
          <a:prstGeom prst="rect">
            <a:avLst/>
          </a:prstGeom>
          <a:noFill/>
        </p:spPr>
        <p:txBody>
          <a:bodyPr wrap="square">
            <a:spAutoFit/>
          </a:bodyPr>
          <a:lstStyle/>
          <a:p>
            <a:pPr algn="l"/>
            <a:r>
              <a:rPr lang="en-US" sz="1100" dirty="0">
                <a:solidFill>
                  <a:schemeClr val="bg1"/>
                </a:solidFill>
                <a:effectLst/>
                <a:latin typeface="Cadiz" pitchFamily="2" charset="77"/>
              </a:rPr>
              <a:t>To design your power distribution system in PowerPoint, consider the following guidelines on how to use shapes to represent different components:</a:t>
            </a:r>
          </a:p>
          <a:p>
            <a:pPr algn="l"/>
            <a:br>
              <a:rPr lang="en-US" sz="1100" dirty="0">
                <a:solidFill>
                  <a:schemeClr val="bg1"/>
                </a:solidFill>
                <a:effectLst/>
                <a:latin typeface="Cadiz" pitchFamily="2" charset="77"/>
              </a:rPr>
            </a:br>
            <a:r>
              <a:rPr lang="en-US" sz="1100" b="1" dirty="0">
                <a:solidFill>
                  <a:schemeClr val="bg1"/>
                </a:solidFill>
                <a:effectLst/>
                <a:latin typeface="Cadiz Bold" pitchFamily="2" charset="77"/>
              </a:rPr>
              <a:t>Lines and Arrows: </a:t>
            </a:r>
            <a:r>
              <a:rPr lang="en-US" sz="1100" dirty="0">
                <a:solidFill>
                  <a:schemeClr val="bg1"/>
                </a:solidFill>
                <a:effectLst/>
                <a:latin typeface="Cadiz" pitchFamily="2" charset="77"/>
              </a:rPr>
              <a:t>Use these to depict electrical connections between components. For example, a solid line could represent primary power connections, while a dashed line might indicate secondary or backup connections.</a:t>
            </a:r>
            <a:br>
              <a:rPr lang="en-US" sz="1100" dirty="0">
                <a:solidFill>
                  <a:schemeClr val="bg1"/>
                </a:solidFill>
                <a:effectLst/>
                <a:latin typeface="Cadiz" pitchFamily="2" charset="77"/>
              </a:rPr>
            </a:br>
            <a:endParaRPr lang="en-US" sz="1100" dirty="0">
              <a:solidFill>
                <a:schemeClr val="bg1"/>
              </a:solidFill>
              <a:effectLst/>
              <a:latin typeface="Cadiz" pitchFamily="2" charset="77"/>
            </a:endParaRPr>
          </a:p>
          <a:p>
            <a:pPr algn="l"/>
            <a:r>
              <a:rPr lang="en-US" sz="1100" b="1" dirty="0">
                <a:solidFill>
                  <a:schemeClr val="bg1"/>
                </a:solidFill>
                <a:effectLst/>
                <a:latin typeface="Cadiz Bold" pitchFamily="2" charset="77"/>
              </a:rPr>
              <a:t>Rectangles and Squares: </a:t>
            </a:r>
            <a:r>
              <a:rPr lang="en-US" sz="1100" dirty="0">
                <a:solidFill>
                  <a:schemeClr val="bg1"/>
                </a:solidFill>
                <a:effectLst/>
                <a:latin typeface="Cadiz" pitchFamily="2" charset="77"/>
              </a:rPr>
              <a:t>Ideal for representing distribution panels and circuit breakers. You can use labels or different colors to differentiate between primary and secondary panels.</a:t>
            </a:r>
            <a:br>
              <a:rPr lang="en-US" sz="1100" dirty="0">
                <a:solidFill>
                  <a:schemeClr val="bg1"/>
                </a:solidFill>
                <a:effectLst/>
                <a:latin typeface="Cadiz" pitchFamily="2" charset="77"/>
              </a:rPr>
            </a:br>
            <a:endParaRPr lang="en-US" sz="1100" dirty="0">
              <a:solidFill>
                <a:schemeClr val="bg1"/>
              </a:solidFill>
              <a:effectLst/>
              <a:latin typeface="Cadiz" pitchFamily="2" charset="77"/>
            </a:endParaRPr>
          </a:p>
          <a:p>
            <a:pPr algn="l"/>
            <a:r>
              <a:rPr lang="en-US" sz="1100" b="1" dirty="0">
                <a:solidFill>
                  <a:schemeClr val="bg1"/>
                </a:solidFill>
                <a:effectLst/>
                <a:latin typeface="Cadiz Bold" pitchFamily="2" charset="77"/>
              </a:rPr>
              <a:t>Circles or Ellipses: </a:t>
            </a:r>
            <a:r>
              <a:rPr lang="en-US" sz="1100" dirty="0">
                <a:solidFill>
                  <a:schemeClr val="bg1"/>
                </a:solidFill>
                <a:effectLst/>
                <a:latin typeface="Cadiz" pitchFamily="2" charset="77"/>
              </a:rPr>
              <a:t>These could symbolize generators or other power sources. Position them at the beginning of your power flow diagram to indicate where the power originates.  Engine 1 generator, engine 4 generator,</a:t>
            </a:r>
            <a:r>
              <a:rPr lang="en-US" sz="1100" dirty="0">
                <a:solidFill>
                  <a:schemeClr val="bg1"/>
                </a:solidFill>
                <a:latin typeface="Cadiz" pitchFamily="2" charset="77"/>
              </a:rPr>
              <a:t> and the main battery are common power sources, shown on the following diagram.</a:t>
            </a:r>
            <a:br>
              <a:rPr lang="en-US" sz="1100" dirty="0">
                <a:solidFill>
                  <a:schemeClr val="bg1"/>
                </a:solidFill>
                <a:effectLst/>
                <a:latin typeface="Cadiz" pitchFamily="2" charset="77"/>
              </a:rPr>
            </a:br>
            <a:endParaRPr lang="en-US" sz="1100" dirty="0">
              <a:solidFill>
                <a:schemeClr val="bg1"/>
              </a:solidFill>
              <a:effectLst/>
              <a:latin typeface="Cadiz" pitchFamily="2" charset="77"/>
            </a:endParaRPr>
          </a:p>
          <a:p>
            <a:pPr algn="l"/>
            <a:r>
              <a:rPr lang="en-US" sz="1100" b="1" dirty="0">
                <a:solidFill>
                  <a:schemeClr val="bg1"/>
                </a:solidFill>
                <a:effectLst/>
                <a:latin typeface="Cadiz" pitchFamily="2" charset="77"/>
              </a:rPr>
              <a:t>Triangles or Diamonds:</a:t>
            </a:r>
            <a:r>
              <a:rPr lang="en-US" sz="1100" dirty="0">
                <a:solidFill>
                  <a:schemeClr val="bg1"/>
                </a:solidFill>
                <a:effectLst/>
                <a:latin typeface="Cadiz" pitchFamily="2" charset="77"/>
              </a:rPr>
              <a:t> Use these shapes to denote electrical and avionics systems that require reliable power from the distribution panels.  Common systems are shown on the following diagram.</a:t>
            </a:r>
          </a:p>
          <a:p>
            <a:pPr algn="l"/>
            <a:endParaRPr lang="en-US" sz="1100" dirty="0">
              <a:solidFill>
                <a:schemeClr val="bg1"/>
              </a:solidFill>
              <a:latin typeface="Cadiz" pitchFamily="2" charset="77"/>
            </a:endParaRPr>
          </a:p>
          <a:p>
            <a:pPr algn="l"/>
            <a:r>
              <a:rPr lang="en-US" sz="1100" dirty="0">
                <a:solidFill>
                  <a:schemeClr val="bg1"/>
                </a:solidFill>
                <a:effectLst/>
                <a:latin typeface="Cadiz" pitchFamily="2" charset="77"/>
              </a:rPr>
              <a:t>Remember, each shape's size, color, and placement should help clarify the system's layout and operation, making it intuitive for someone else to understand your design rationale.</a:t>
            </a:r>
          </a:p>
          <a:p>
            <a:pPr algn="l"/>
            <a:endParaRPr lang="en-US" sz="1100" dirty="0">
              <a:solidFill>
                <a:schemeClr val="bg1"/>
              </a:solidFill>
              <a:latin typeface="Cadiz" pitchFamily="2" charset="77"/>
            </a:endParaRPr>
          </a:p>
          <a:p>
            <a:pPr algn="l"/>
            <a:r>
              <a:rPr lang="en-US" sz="1100" dirty="0">
                <a:solidFill>
                  <a:schemeClr val="bg1"/>
                </a:solidFill>
                <a:latin typeface="Cadiz" pitchFamily="2" charset="77"/>
              </a:rPr>
              <a:t>Use the aircraft diagram on the next slide to design your power distribution system.</a:t>
            </a:r>
            <a:endParaRPr lang="en-US" sz="1100" dirty="0">
              <a:solidFill>
                <a:schemeClr val="bg1"/>
              </a:solidFill>
              <a:effectLst/>
              <a:latin typeface="Cadiz" pitchFamily="2" charset="77"/>
            </a:endParaRPr>
          </a:p>
          <a:p>
            <a:pPr algn="l"/>
            <a:br>
              <a:rPr lang="en-US" sz="1100" dirty="0">
                <a:solidFill>
                  <a:schemeClr val="bg1"/>
                </a:solidFill>
                <a:effectLst/>
                <a:latin typeface="Cadiz" pitchFamily="2" charset="77"/>
              </a:rPr>
            </a:br>
            <a:endParaRPr lang="en-US" sz="1100" dirty="0">
              <a:solidFill>
                <a:schemeClr val="bg1"/>
              </a:solidFill>
              <a:effectLst/>
              <a:latin typeface="Cadiz" pitchFamily="2" charset="77"/>
            </a:endParaRPr>
          </a:p>
        </p:txBody>
      </p:sp>
      <p:pic>
        <p:nvPicPr>
          <p:cNvPr id="8" name="Content Placeholder 7" descr="A drawing of an airplane&#10;&#10;Description automatically generated">
            <a:extLst>
              <a:ext uri="{FF2B5EF4-FFF2-40B4-BE49-F238E27FC236}">
                <a16:creationId xmlns:a16="http://schemas.microsoft.com/office/drawing/2014/main" id="{D592CA10-7F47-80FC-38C4-A035597DA85D}"/>
              </a:ext>
            </a:extLst>
          </p:cNvPr>
          <p:cNvPicPr>
            <a:picLocks noGrp="1" noChangeAspect="1"/>
          </p:cNvPicPr>
          <p:nvPr>
            <p:ph idx="1"/>
          </p:nvPr>
        </p:nvPicPr>
        <p:blipFill rotWithShape="1">
          <a:blip r:embed="rId2"/>
          <a:srcRect l="12021" r="14937"/>
          <a:stretch/>
        </p:blipFill>
        <p:spPr>
          <a:xfrm>
            <a:off x="5573485" y="1027905"/>
            <a:ext cx="5640302" cy="5135748"/>
          </a:xfrm>
        </p:spPr>
      </p:pic>
    </p:spTree>
    <p:extLst>
      <p:ext uri="{BB962C8B-B14F-4D97-AF65-F5344CB8AC3E}">
        <p14:creationId xmlns:p14="http://schemas.microsoft.com/office/powerpoint/2010/main" val="2801477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927F8E-B72B-1B7D-D80A-02E3F18C189D}"/>
              </a:ext>
            </a:extLst>
          </p:cNvPr>
          <p:cNvPicPr>
            <a:picLocks noChangeAspect="1"/>
          </p:cNvPicPr>
          <p:nvPr/>
        </p:nvPicPr>
        <p:blipFill>
          <a:blip r:embed="rId2"/>
          <a:stretch>
            <a:fillRect/>
          </a:stretch>
        </p:blipFill>
        <p:spPr>
          <a:xfrm>
            <a:off x="2337956" y="1"/>
            <a:ext cx="7491844" cy="6858000"/>
          </a:xfrm>
          <a:prstGeom prst="rect">
            <a:avLst/>
          </a:prstGeom>
        </p:spPr>
      </p:pic>
      <p:sp>
        <p:nvSpPr>
          <p:cNvPr id="5" name="Oval 4">
            <a:extLst>
              <a:ext uri="{FF2B5EF4-FFF2-40B4-BE49-F238E27FC236}">
                <a16:creationId xmlns:a16="http://schemas.microsoft.com/office/drawing/2014/main" id="{09E05E0B-2B28-04F3-59F8-D044399C7868}"/>
              </a:ext>
            </a:extLst>
          </p:cNvPr>
          <p:cNvSpPr/>
          <p:nvPr/>
        </p:nvSpPr>
        <p:spPr>
          <a:xfrm>
            <a:off x="4454236" y="5143500"/>
            <a:ext cx="893618" cy="5091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solidFill>
                  <a:schemeClr val="tx1"/>
                </a:solidFill>
              </a:rPr>
              <a:t>Engine 1 Generator</a:t>
            </a:r>
          </a:p>
        </p:txBody>
      </p:sp>
      <p:sp>
        <p:nvSpPr>
          <p:cNvPr id="9" name="Oval 8">
            <a:extLst>
              <a:ext uri="{FF2B5EF4-FFF2-40B4-BE49-F238E27FC236}">
                <a16:creationId xmlns:a16="http://schemas.microsoft.com/office/drawing/2014/main" id="{130C9BE2-0784-6CF0-3D69-8B19785295E6}"/>
              </a:ext>
            </a:extLst>
          </p:cNvPr>
          <p:cNvSpPr/>
          <p:nvPr/>
        </p:nvSpPr>
        <p:spPr>
          <a:xfrm>
            <a:off x="4454236" y="1132608"/>
            <a:ext cx="893618" cy="5091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solidFill>
                  <a:schemeClr val="tx1"/>
                </a:solidFill>
              </a:rPr>
              <a:t>Engine 4 Generator</a:t>
            </a:r>
          </a:p>
        </p:txBody>
      </p:sp>
      <p:sp>
        <p:nvSpPr>
          <p:cNvPr id="10" name="Oval 9">
            <a:extLst>
              <a:ext uri="{FF2B5EF4-FFF2-40B4-BE49-F238E27FC236}">
                <a16:creationId xmlns:a16="http://schemas.microsoft.com/office/drawing/2014/main" id="{D8F54627-3F0B-E42C-7461-7AD18910958A}"/>
              </a:ext>
            </a:extLst>
          </p:cNvPr>
          <p:cNvSpPr/>
          <p:nvPr/>
        </p:nvSpPr>
        <p:spPr>
          <a:xfrm>
            <a:off x="2362200" y="3199924"/>
            <a:ext cx="713509" cy="45815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solidFill>
                  <a:schemeClr val="tx1"/>
                </a:solidFill>
              </a:rPr>
              <a:t>Main Battery</a:t>
            </a:r>
          </a:p>
        </p:txBody>
      </p:sp>
      <p:sp>
        <p:nvSpPr>
          <p:cNvPr id="11" name="Rectangle 10">
            <a:extLst>
              <a:ext uri="{FF2B5EF4-FFF2-40B4-BE49-F238E27FC236}">
                <a16:creationId xmlns:a16="http://schemas.microsoft.com/office/drawing/2014/main" id="{97727980-66C0-B964-DFCE-3E094031CA6C}"/>
              </a:ext>
            </a:extLst>
          </p:cNvPr>
          <p:cNvSpPr/>
          <p:nvPr/>
        </p:nvSpPr>
        <p:spPr>
          <a:xfrm>
            <a:off x="0" y="6255328"/>
            <a:ext cx="3657600" cy="6026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p>
        </p:txBody>
      </p:sp>
      <p:sp>
        <p:nvSpPr>
          <p:cNvPr id="12" name="Rectangle 11">
            <a:extLst>
              <a:ext uri="{FF2B5EF4-FFF2-40B4-BE49-F238E27FC236}">
                <a16:creationId xmlns:a16="http://schemas.microsoft.com/office/drawing/2014/main" id="{8C2AE5B4-BE0E-DC26-85AB-2FB6927360DB}"/>
              </a:ext>
            </a:extLst>
          </p:cNvPr>
          <p:cNvSpPr/>
          <p:nvPr/>
        </p:nvSpPr>
        <p:spPr>
          <a:xfrm>
            <a:off x="0" y="0"/>
            <a:ext cx="3657600" cy="6026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p>
        </p:txBody>
      </p:sp>
      <p:sp>
        <p:nvSpPr>
          <p:cNvPr id="13" name="Rectangle 12">
            <a:extLst>
              <a:ext uri="{FF2B5EF4-FFF2-40B4-BE49-F238E27FC236}">
                <a16:creationId xmlns:a16="http://schemas.microsoft.com/office/drawing/2014/main" id="{D2C99F00-AE5E-69E2-0B36-0A071658795D}"/>
              </a:ext>
            </a:extLst>
          </p:cNvPr>
          <p:cNvSpPr/>
          <p:nvPr/>
        </p:nvSpPr>
        <p:spPr>
          <a:xfrm rot="16200000">
            <a:off x="-1317914" y="3138531"/>
            <a:ext cx="3657600" cy="6026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dirty="0"/>
          </a:p>
        </p:txBody>
      </p:sp>
      <p:sp>
        <p:nvSpPr>
          <p:cNvPr id="14" name="Diamond 13">
            <a:extLst>
              <a:ext uri="{FF2B5EF4-FFF2-40B4-BE49-F238E27FC236}">
                <a16:creationId xmlns:a16="http://schemas.microsoft.com/office/drawing/2014/main" id="{9C67A659-D9C1-3804-F81A-D51D35ECFAB0}"/>
              </a:ext>
            </a:extLst>
          </p:cNvPr>
          <p:cNvSpPr/>
          <p:nvPr/>
        </p:nvSpPr>
        <p:spPr>
          <a:xfrm>
            <a:off x="2718954" y="2337955"/>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Pilot Windshield Anti-Ice</a:t>
            </a:r>
          </a:p>
        </p:txBody>
      </p:sp>
      <p:sp>
        <p:nvSpPr>
          <p:cNvPr id="15" name="Diamond 14">
            <a:extLst>
              <a:ext uri="{FF2B5EF4-FFF2-40B4-BE49-F238E27FC236}">
                <a16:creationId xmlns:a16="http://schemas.microsoft.com/office/drawing/2014/main" id="{792B4A64-E483-6CE5-17AA-71253C8E3284}"/>
              </a:ext>
            </a:extLst>
          </p:cNvPr>
          <p:cNvSpPr/>
          <p:nvPr/>
        </p:nvSpPr>
        <p:spPr>
          <a:xfrm>
            <a:off x="8672945" y="3065318"/>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Pitch Trim</a:t>
            </a:r>
          </a:p>
        </p:txBody>
      </p:sp>
      <p:sp>
        <p:nvSpPr>
          <p:cNvPr id="16" name="Diamond 15">
            <a:extLst>
              <a:ext uri="{FF2B5EF4-FFF2-40B4-BE49-F238E27FC236}">
                <a16:creationId xmlns:a16="http://schemas.microsoft.com/office/drawing/2014/main" id="{8303145F-2E08-F803-D276-4E6FCB361F72}"/>
              </a:ext>
            </a:extLst>
          </p:cNvPr>
          <p:cNvSpPr/>
          <p:nvPr/>
        </p:nvSpPr>
        <p:spPr>
          <a:xfrm>
            <a:off x="10044545" y="3076186"/>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Yaw Damper</a:t>
            </a:r>
          </a:p>
        </p:txBody>
      </p:sp>
      <p:sp>
        <p:nvSpPr>
          <p:cNvPr id="17" name="Diamond 16">
            <a:extLst>
              <a:ext uri="{FF2B5EF4-FFF2-40B4-BE49-F238E27FC236}">
                <a16:creationId xmlns:a16="http://schemas.microsoft.com/office/drawing/2014/main" id="{8172290D-FED1-64A0-1C9F-AFD911D81031}"/>
              </a:ext>
            </a:extLst>
          </p:cNvPr>
          <p:cNvSpPr/>
          <p:nvPr/>
        </p:nvSpPr>
        <p:spPr>
          <a:xfrm>
            <a:off x="6274377" y="1974273"/>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Bleed Air Control</a:t>
            </a:r>
          </a:p>
        </p:txBody>
      </p:sp>
      <p:sp>
        <p:nvSpPr>
          <p:cNvPr id="18" name="Diamond 17">
            <a:extLst>
              <a:ext uri="{FF2B5EF4-FFF2-40B4-BE49-F238E27FC236}">
                <a16:creationId xmlns:a16="http://schemas.microsoft.com/office/drawing/2014/main" id="{61ED0DA5-8B1C-F642-868A-842429FFDCBF}"/>
              </a:ext>
            </a:extLst>
          </p:cNvPr>
          <p:cNvSpPr/>
          <p:nvPr/>
        </p:nvSpPr>
        <p:spPr>
          <a:xfrm>
            <a:off x="2675659" y="3792681"/>
            <a:ext cx="145819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Air Conditioner</a:t>
            </a:r>
          </a:p>
        </p:txBody>
      </p:sp>
      <p:sp>
        <p:nvSpPr>
          <p:cNvPr id="19" name="Diamond 18">
            <a:extLst>
              <a:ext uri="{FF2B5EF4-FFF2-40B4-BE49-F238E27FC236}">
                <a16:creationId xmlns:a16="http://schemas.microsoft.com/office/drawing/2014/main" id="{A6FBF39F-0CA7-1200-F2AB-B045E4795881}"/>
              </a:ext>
            </a:extLst>
          </p:cNvPr>
          <p:cNvSpPr/>
          <p:nvPr/>
        </p:nvSpPr>
        <p:spPr>
          <a:xfrm>
            <a:off x="6199909" y="3792680"/>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Strobe Light</a:t>
            </a:r>
          </a:p>
        </p:txBody>
      </p:sp>
      <p:sp>
        <p:nvSpPr>
          <p:cNvPr id="20" name="Diamond 19">
            <a:extLst>
              <a:ext uri="{FF2B5EF4-FFF2-40B4-BE49-F238E27FC236}">
                <a16:creationId xmlns:a16="http://schemas.microsoft.com/office/drawing/2014/main" id="{52234C7F-A389-73ED-16F0-20F16CA312C0}"/>
              </a:ext>
            </a:extLst>
          </p:cNvPr>
          <p:cNvSpPr/>
          <p:nvPr/>
        </p:nvSpPr>
        <p:spPr>
          <a:xfrm>
            <a:off x="3364922" y="4374573"/>
            <a:ext cx="1451264"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Fire Extinguisher</a:t>
            </a:r>
          </a:p>
        </p:txBody>
      </p:sp>
      <p:sp>
        <p:nvSpPr>
          <p:cNvPr id="21" name="Diamond 20">
            <a:extLst>
              <a:ext uri="{FF2B5EF4-FFF2-40B4-BE49-F238E27FC236}">
                <a16:creationId xmlns:a16="http://schemas.microsoft.com/office/drawing/2014/main" id="{7857585A-38AD-6D8F-EB3D-233935C8D8F4}"/>
              </a:ext>
            </a:extLst>
          </p:cNvPr>
          <p:cNvSpPr/>
          <p:nvPr/>
        </p:nvSpPr>
        <p:spPr>
          <a:xfrm>
            <a:off x="1894609" y="1895865"/>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Navigation Memory</a:t>
            </a:r>
          </a:p>
        </p:txBody>
      </p:sp>
    </p:spTree>
    <p:extLst>
      <p:ext uri="{BB962C8B-B14F-4D97-AF65-F5344CB8AC3E}">
        <p14:creationId xmlns:p14="http://schemas.microsoft.com/office/powerpoint/2010/main" val="110431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927F8E-B72B-1B7D-D80A-02E3F18C189D}"/>
              </a:ext>
            </a:extLst>
          </p:cNvPr>
          <p:cNvPicPr>
            <a:picLocks noChangeAspect="1"/>
          </p:cNvPicPr>
          <p:nvPr/>
        </p:nvPicPr>
        <p:blipFill>
          <a:blip r:embed="rId2"/>
          <a:stretch>
            <a:fillRect/>
          </a:stretch>
        </p:blipFill>
        <p:spPr>
          <a:xfrm>
            <a:off x="2337956" y="1"/>
            <a:ext cx="7491844" cy="6858000"/>
          </a:xfrm>
          <a:prstGeom prst="rect">
            <a:avLst/>
          </a:prstGeom>
        </p:spPr>
      </p:pic>
      <p:sp>
        <p:nvSpPr>
          <p:cNvPr id="5" name="Oval 4">
            <a:extLst>
              <a:ext uri="{FF2B5EF4-FFF2-40B4-BE49-F238E27FC236}">
                <a16:creationId xmlns:a16="http://schemas.microsoft.com/office/drawing/2014/main" id="{09E05E0B-2B28-04F3-59F8-D044399C7868}"/>
              </a:ext>
            </a:extLst>
          </p:cNvPr>
          <p:cNvSpPr/>
          <p:nvPr/>
        </p:nvSpPr>
        <p:spPr>
          <a:xfrm>
            <a:off x="4454236" y="5143500"/>
            <a:ext cx="893618" cy="5091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solidFill>
                  <a:schemeClr val="tx1"/>
                </a:solidFill>
              </a:rPr>
              <a:t>Engine 1 Generator</a:t>
            </a:r>
          </a:p>
        </p:txBody>
      </p:sp>
      <p:sp>
        <p:nvSpPr>
          <p:cNvPr id="9" name="Oval 8">
            <a:extLst>
              <a:ext uri="{FF2B5EF4-FFF2-40B4-BE49-F238E27FC236}">
                <a16:creationId xmlns:a16="http://schemas.microsoft.com/office/drawing/2014/main" id="{130C9BE2-0784-6CF0-3D69-8B19785295E6}"/>
              </a:ext>
            </a:extLst>
          </p:cNvPr>
          <p:cNvSpPr/>
          <p:nvPr/>
        </p:nvSpPr>
        <p:spPr>
          <a:xfrm>
            <a:off x="4454236" y="1132608"/>
            <a:ext cx="893618" cy="5091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solidFill>
                  <a:schemeClr val="tx1"/>
                </a:solidFill>
              </a:rPr>
              <a:t>Engine 4 Generator</a:t>
            </a:r>
          </a:p>
        </p:txBody>
      </p:sp>
      <p:sp>
        <p:nvSpPr>
          <p:cNvPr id="10" name="Oval 9">
            <a:extLst>
              <a:ext uri="{FF2B5EF4-FFF2-40B4-BE49-F238E27FC236}">
                <a16:creationId xmlns:a16="http://schemas.microsoft.com/office/drawing/2014/main" id="{D8F54627-3F0B-E42C-7461-7AD18910958A}"/>
              </a:ext>
            </a:extLst>
          </p:cNvPr>
          <p:cNvSpPr/>
          <p:nvPr/>
        </p:nvSpPr>
        <p:spPr>
          <a:xfrm>
            <a:off x="2362200" y="3199924"/>
            <a:ext cx="713509" cy="45815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dirty="0">
                <a:solidFill>
                  <a:schemeClr val="tx1"/>
                </a:solidFill>
              </a:rPr>
              <a:t>Main Battery</a:t>
            </a:r>
          </a:p>
        </p:txBody>
      </p:sp>
      <p:sp>
        <p:nvSpPr>
          <p:cNvPr id="11" name="Rectangle 10">
            <a:extLst>
              <a:ext uri="{FF2B5EF4-FFF2-40B4-BE49-F238E27FC236}">
                <a16:creationId xmlns:a16="http://schemas.microsoft.com/office/drawing/2014/main" id="{97727980-66C0-B964-DFCE-3E094031CA6C}"/>
              </a:ext>
            </a:extLst>
          </p:cNvPr>
          <p:cNvSpPr/>
          <p:nvPr/>
        </p:nvSpPr>
        <p:spPr>
          <a:xfrm>
            <a:off x="0" y="6255328"/>
            <a:ext cx="3657600" cy="6026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Engine 1 Generator Bus</a:t>
            </a:r>
          </a:p>
        </p:txBody>
      </p:sp>
      <p:sp>
        <p:nvSpPr>
          <p:cNvPr id="12" name="Rectangle 11">
            <a:extLst>
              <a:ext uri="{FF2B5EF4-FFF2-40B4-BE49-F238E27FC236}">
                <a16:creationId xmlns:a16="http://schemas.microsoft.com/office/drawing/2014/main" id="{8C2AE5B4-BE0E-DC26-85AB-2FB6927360DB}"/>
              </a:ext>
            </a:extLst>
          </p:cNvPr>
          <p:cNvSpPr/>
          <p:nvPr/>
        </p:nvSpPr>
        <p:spPr>
          <a:xfrm>
            <a:off x="0" y="0"/>
            <a:ext cx="3657600" cy="6026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Engine 4 Generator Bus</a:t>
            </a:r>
          </a:p>
        </p:txBody>
      </p:sp>
      <p:sp>
        <p:nvSpPr>
          <p:cNvPr id="13" name="Rectangle 12">
            <a:extLst>
              <a:ext uri="{FF2B5EF4-FFF2-40B4-BE49-F238E27FC236}">
                <a16:creationId xmlns:a16="http://schemas.microsoft.com/office/drawing/2014/main" id="{D2C99F00-AE5E-69E2-0B36-0A071658795D}"/>
              </a:ext>
            </a:extLst>
          </p:cNvPr>
          <p:cNvSpPr/>
          <p:nvPr/>
        </p:nvSpPr>
        <p:spPr>
          <a:xfrm rot="16200000">
            <a:off x="-1319645" y="3138056"/>
            <a:ext cx="3657600" cy="60267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Main Battery Bus</a:t>
            </a:r>
          </a:p>
        </p:txBody>
      </p:sp>
      <p:sp>
        <p:nvSpPr>
          <p:cNvPr id="14" name="Diamond 13">
            <a:extLst>
              <a:ext uri="{FF2B5EF4-FFF2-40B4-BE49-F238E27FC236}">
                <a16:creationId xmlns:a16="http://schemas.microsoft.com/office/drawing/2014/main" id="{9C67A659-D9C1-3804-F81A-D51D35ECFAB0}"/>
              </a:ext>
            </a:extLst>
          </p:cNvPr>
          <p:cNvSpPr/>
          <p:nvPr/>
        </p:nvSpPr>
        <p:spPr>
          <a:xfrm>
            <a:off x="2718954" y="2337955"/>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Pilot Windshield Anti-Ice</a:t>
            </a:r>
          </a:p>
        </p:txBody>
      </p:sp>
      <p:sp>
        <p:nvSpPr>
          <p:cNvPr id="15" name="Diamond 14">
            <a:extLst>
              <a:ext uri="{FF2B5EF4-FFF2-40B4-BE49-F238E27FC236}">
                <a16:creationId xmlns:a16="http://schemas.microsoft.com/office/drawing/2014/main" id="{792B4A64-E483-6CE5-17AA-71253C8E3284}"/>
              </a:ext>
            </a:extLst>
          </p:cNvPr>
          <p:cNvSpPr/>
          <p:nvPr/>
        </p:nvSpPr>
        <p:spPr>
          <a:xfrm>
            <a:off x="8672945" y="3065318"/>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Pitch Trim</a:t>
            </a:r>
          </a:p>
        </p:txBody>
      </p:sp>
      <p:sp>
        <p:nvSpPr>
          <p:cNvPr id="16" name="Diamond 15">
            <a:extLst>
              <a:ext uri="{FF2B5EF4-FFF2-40B4-BE49-F238E27FC236}">
                <a16:creationId xmlns:a16="http://schemas.microsoft.com/office/drawing/2014/main" id="{8303145F-2E08-F803-D276-4E6FCB361F72}"/>
              </a:ext>
            </a:extLst>
          </p:cNvPr>
          <p:cNvSpPr/>
          <p:nvPr/>
        </p:nvSpPr>
        <p:spPr>
          <a:xfrm>
            <a:off x="10044545" y="3076186"/>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Yaw Damper</a:t>
            </a:r>
          </a:p>
        </p:txBody>
      </p:sp>
      <p:sp>
        <p:nvSpPr>
          <p:cNvPr id="17" name="Diamond 16">
            <a:extLst>
              <a:ext uri="{FF2B5EF4-FFF2-40B4-BE49-F238E27FC236}">
                <a16:creationId xmlns:a16="http://schemas.microsoft.com/office/drawing/2014/main" id="{8172290D-FED1-64A0-1C9F-AFD911D81031}"/>
              </a:ext>
            </a:extLst>
          </p:cNvPr>
          <p:cNvSpPr/>
          <p:nvPr/>
        </p:nvSpPr>
        <p:spPr>
          <a:xfrm>
            <a:off x="6274377" y="1974273"/>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Bleed Air Control</a:t>
            </a:r>
          </a:p>
        </p:txBody>
      </p:sp>
      <p:sp>
        <p:nvSpPr>
          <p:cNvPr id="18" name="Diamond 17">
            <a:extLst>
              <a:ext uri="{FF2B5EF4-FFF2-40B4-BE49-F238E27FC236}">
                <a16:creationId xmlns:a16="http://schemas.microsoft.com/office/drawing/2014/main" id="{61ED0DA5-8B1C-F642-868A-842429FFDCBF}"/>
              </a:ext>
            </a:extLst>
          </p:cNvPr>
          <p:cNvSpPr/>
          <p:nvPr/>
        </p:nvSpPr>
        <p:spPr>
          <a:xfrm>
            <a:off x="2675659" y="3792681"/>
            <a:ext cx="145819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Air Conditioner</a:t>
            </a:r>
          </a:p>
        </p:txBody>
      </p:sp>
      <p:sp>
        <p:nvSpPr>
          <p:cNvPr id="19" name="Diamond 18">
            <a:extLst>
              <a:ext uri="{FF2B5EF4-FFF2-40B4-BE49-F238E27FC236}">
                <a16:creationId xmlns:a16="http://schemas.microsoft.com/office/drawing/2014/main" id="{A6FBF39F-0CA7-1200-F2AB-B045E4795881}"/>
              </a:ext>
            </a:extLst>
          </p:cNvPr>
          <p:cNvSpPr/>
          <p:nvPr/>
        </p:nvSpPr>
        <p:spPr>
          <a:xfrm>
            <a:off x="6199909" y="3792680"/>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Strobe Light</a:t>
            </a:r>
          </a:p>
        </p:txBody>
      </p:sp>
      <p:sp>
        <p:nvSpPr>
          <p:cNvPr id="20" name="Diamond 19">
            <a:extLst>
              <a:ext uri="{FF2B5EF4-FFF2-40B4-BE49-F238E27FC236}">
                <a16:creationId xmlns:a16="http://schemas.microsoft.com/office/drawing/2014/main" id="{52234C7F-A389-73ED-16F0-20F16CA312C0}"/>
              </a:ext>
            </a:extLst>
          </p:cNvPr>
          <p:cNvSpPr/>
          <p:nvPr/>
        </p:nvSpPr>
        <p:spPr>
          <a:xfrm>
            <a:off x="3364922" y="4374573"/>
            <a:ext cx="1451264"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Fire Extinguisher</a:t>
            </a:r>
          </a:p>
        </p:txBody>
      </p:sp>
      <p:sp>
        <p:nvSpPr>
          <p:cNvPr id="21" name="Diamond 20">
            <a:extLst>
              <a:ext uri="{FF2B5EF4-FFF2-40B4-BE49-F238E27FC236}">
                <a16:creationId xmlns:a16="http://schemas.microsoft.com/office/drawing/2014/main" id="{7857585A-38AD-6D8F-EB3D-233935C8D8F4}"/>
              </a:ext>
            </a:extLst>
          </p:cNvPr>
          <p:cNvSpPr/>
          <p:nvPr/>
        </p:nvSpPr>
        <p:spPr>
          <a:xfrm>
            <a:off x="1894609" y="1895865"/>
            <a:ext cx="1371600" cy="727363"/>
          </a:xfrm>
          <a:prstGeom prst="diamond">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800" dirty="0"/>
              <a:t>Navigation Memory</a:t>
            </a:r>
          </a:p>
        </p:txBody>
      </p:sp>
      <p:cxnSp>
        <p:nvCxnSpPr>
          <p:cNvPr id="3" name="Straight Arrow Connector 2">
            <a:extLst>
              <a:ext uri="{FF2B5EF4-FFF2-40B4-BE49-F238E27FC236}">
                <a16:creationId xmlns:a16="http://schemas.microsoft.com/office/drawing/2014/main" id="{F92B9FA1-2B52-C8DE-02A5-FDDB81A2CC39}"/>
              </a:ext>
            </a:extLst>
          </p:cNvPr>
          <p:cNvCxnSpPr>
            <a:cxnSpLocks/>
            <a:stCxn id="10" idx="2"/>
            <a:endCxn id="13" idx="2"/>
          </p:cNvCxnSpPr>
          <p:nvPr/>
        </p:nvCxnSpPr>
        <p:spPr>
          <a:xfrm flipH="1">
            <a:off x="810491" y="3429000"/>
            <a:ext cx="1551709" cy="1039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17B457E2-F5DB-C647-FE3D-DBF367E0EBA7}"/>
              </a:ext>
            </a:extLst>
          </p:cNvPr>
          <p:cNvCxnSpPr>
            <a:cxnSpLocks/>
            <a:endCxn id="10" idx="3"/>
          </p:cNvCxnSpPr>
          <p:nvPr/>
        </p:nvCxnSpPr>
        <p:spPr>
          <a:xfrm>
            <a:off x="810490" y="3590981"/>
            <a:ext cx="165620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3C82B79E-7FA1-F41E-49FF-53CCFB1D8D00}"/>
              </a:ext>
            </a:extLst>
          </p:cNvPr>
          <p:cNvCxnSpPr>
            <a:cxnSpLocks/>
          </p:cNvCxnSpPr>
          <p:nvPr/>
        </p:nvCxnSpPr>
        <p:spPr>
          <a:xfrm>
            <a:off x="332509" y="602672"/>
            <a:ext cx="0" cy="98713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1" name="Straight Arrow Connector 30">
            <a:extLst>
              <a:ext uri="{FF2B5EF4-FFF2-40B4-BE49-F238E27FC236}">
                <a16:creationId xmlns:a16="http://schemas.microsoft.com/office/drawing/2014/main" id="{32B65D63-EE75-B43D-03AD-A9106093870B}"/>
              </a:ext>
            </a:extLst>
          </p:cNvPr>
          <p:cNvCxnSpPr>
            <a:cxnSpLocks/>
          </p:cNvCxnSpPr>
          <p:nvPr/>
        </p:nvCxnSpPr>
        <p:spPr>
          <a:xfrm flipV="1">
            <a:off x="332509" y="5268192"/>
            <a:ext cx="0" cy="9871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3" name="Rectangle 32">
            <a:extLst>
              <a:ext uri="{FF2B5EF4-FFF2-40B4-BE49-F238E27FC236}">
                <a16:creationId xmlns:a16="http://schemas.microsoft.com/office/drawing/2014/main" id="{24058E1F-E143-186F-2797-790AF857868A}"/>
              </a:ext>
            </a:extLst>
          </p:cNvPr>
          <p:cNvSpPr/>
          <p:nvPr/>
        </p:nvSpPr>
        <p:spPr>
          <a:xfrm>
            <a:off x="810490" y="1797154"/>
            <a:ext cx="332509" cy="1974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CB</a:t>
            </a:r>
          </a:p>
        </p:txBody>
      </p:sp>
      <p:cxnSp>
        <p:nvCxnSpPr>
          <p:cNvPr id="35" name="Straight Arrow Connector 34">
            <a:extLst>
              <a:ext uri="{FF2B5EF4-FFF2-40B4-BE49-F238E27FC236}">
                <a16:creationId xmlns:a16="http://schemas.microsoft.com/office/drawing/2014/main" id="{700305B7-BD6F-0AA9-7490-EC0177C0441E}"/>
              </a:ext>
            </a:extLst>
          </p:cNvPr>
          <p:cNvCxnSpPr>
            <a:cxnSpLocks/>
            <a:stCxn id="33" idx="3"/>
            <a:endCxn id="21" idx="1"/>
          </p:cNvCxnSpPr>
          <p:nvPr/>
        </p:nvCxnSpPr>
        <p:spPr>
          <a:xfrm>
            <a:off x="1142999" y="1895865"/>
            <a:ext cx="751610" cy="36368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7" name="Rectangle 36">
            <a:extLst>
              <a:ext uri="{FF2B5EF4-FFF2-40B4-BE49-F238E27FC236}">
                <a16:creationId xmlns:a16="http://schemas.microsoft.com/office/drawing/2014/main" id="{9A2B7BAB-622F-CC35-1A71-910BDD419222}"/>
              </a:ext>
            </a:extLst>
          </p:cNvPr>
          <p:cNvSpPr/>
          <p:nvPr/>
        </p:nvSpPr>
        <p:spPr>
          <a:xfrm>
            <a:off x="810491" y="4672854"/>
            <a:ext cx="332509" cy="1974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CB</a:t>
            </a:r>
          </a:p>
        </p:txBody>
      </p:sp>
      <p:cxnSp>
        <p:nvCxnSpPr>
          <p:cNvPr id="39" name="Straight Arrow Connector 38">
            <a:extLst>
              <a:ext uri="{FF2B5EF4-FFF2-40B4-BE49-F238E27FC236}">
                <a16:creationId xmlns:a16="http://schemas.microsoft.com/office/drawing/2014/main" id="{5F3B1337-4862-DA54-5F2A-E11CB774228D}"/>
              </a:ext>
            </a:extLst>
          </p:cNvPr>
          <p:cNvCxnSpPr>
            <a:cxnSpLocks/>
            <a:stCxn id="37" idx="3"/>
            <a:endCxn id="20" idx="1"/>
          </p:cNvCxnSpPr>
          <p:nvPr/>
        </p:nvCxnSpPr>
        <p:spPr>
          <a:xfrm flipV="1">
            <a:off x="1143000" y="4738255"/>
            <a:ext cx="2221922" cy="333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2" name="Straight Arrow Connector 41">
            <a:extLst>
              <a:ext uri="{FF2B5EF4-FFF2-40B4-BE49-F238E27FC236}">
                <a16:creationId xmlns:a16="http://schemas.microsoft.com/office/drawing/2014/main" id="{625C2F7D-7753-BF2F-0F0E-E5721DF41B19}"/>
              </a:ext>
            </a:extLst>
          </p:cNvPr>
          <p:cNvCxnSpPr>
            <a:cxnSpLocks/>
            <a:stCxn id="9" idx="1"/>
          </p:cNvCxnSpPr>
          <p:nvPr/>
        </p:nvCxnSpPr>
        <p:spPr>
          <a:xfrm flipH="1" flipV="1">
            <a:off x="3657600" y="602672"/>
            <a:ext cx="927503" cy="60450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5" name="Straight Arrow Connector 44">
            <a:extLst>
              <a:ext uri="{FF2B5EF4-FFF2-40B4-BE49-F238E27FC236}">
                <a16:creationId xmlns:a16="http://schemas.microsoft.com/office/drawing/2014/main" id="{BE9E093A-F5FD-3894-0460-08C2C2323942}"/>
              </a:ext>
            </a:extLst>
          </p:cNvPr>
          <p:cNvCxnSpPr>
            <a:cxnSpLocks/>
            <a:stCxn id="5" idx="3"/>
          </p:cNvCxnSpPr>
          <p:nvPr/>
        </p:nvCxnSpPr>
        <p:spPr>
          <a:xfrm flipH="1">
            <a:off x="3657600" y="5578091"/>
            <a:ext cx="927503" cy="67723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47" name="Rectangle 46">
            <a:extLst>
              <a:ext uri="{FF2B5EF4-FFF2-40B4-BE49-F238E27FC236}">
                <a16:creationId xmlns:a16="http://schemas.microsoft.com/office/drawing/2014/main" id="{EE6B85CD-4368-B569-7FEF-CAD0D527F221}"/>
              </a:ext>
            </a:extLst>
          </p:cNvPr>
          <p:cNvSpPr/>
          <p:nvPr/>
        </p:nvSpPr>
        <p:spPr>
          <a:xfrm>
            <a:off x="1970812" y="6057905"/>
            <a:ext cx="332509" cy="1974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CB</a:t>
            </a:r>
          </a:p>
        </p:txBody>
      </p:sp>
      <p:sp>
        <p:nvSpPr>
          <p:cNvPr id="48" name="Rectangle 47">
            <a:extLst>
              <a:ext uri="{FF2B5EF4-FFF2-40B4-BE49-F238E27FC236}">
                <a16:creationId xmlns:a16="http://schemas.microsoft.com/office/drawing/2014/main" id="{1692FBFE-77B5-9DBD-86E6-CD44CF73D2D3}"/>
              </a:ext>
            </a:extLst>
          </p:cNvPr>
          <p:cNvSpPr/>
          <p:nvPr/>
        </p:nvSpPr>
        <p:spPr>
          <a:xfrm>
            <a:off x="2499015" y="6057905"/>
            <a:ext cx="332509" cy="1974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CB</a:t>
            </a:r>
          </a:p>
        </p:txBody>
      </p:sp>
      <p:sp>
        <p:nvSpPr>
          <p:cNvPr id="49" name="Rectangle 48">
            <a:extLst>
              <a:ext uri="{FF2B5EF4-FFF2-40B4-BE49-F238E27FC236}">
                <a16:creationId xmlns:a16="http://schemas.microsoft.com/office/drawing/2014/main" id="{0396FD40-7367-5195-CE8C-44D8F7BE31E7}"/>
              </a:ext>
            </a:extLst>
          </p:cNvPr>
          <p:cNvSpPr/>
          <p:nvPr/>
        </p:nvSpPr>
        <p:spPr>
          <a:xfrm>
            <a:off x="3032413" y="6057905"/>
            <a:ext cx="332509" cy="1974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CB</a:t>
            </a:r>
          </a:p>
        </p:txBody>
      </p:sp>
      <p:sp>
        <p:nvSpPr>
          <p:cNvPr id="50" name="Rectangle 49">
            <a:extLst>
              <a:ext uri="{FF2B5EF4-FFF2-40B4-BE49-F238E27FC236}">
                <a16:creationId xmlns:a16="http://schemas.microsoft.com/office/drawing/2014/main" id="{78230BB3-DCF8-518C-0AC3-BEF7DB05F0EF}"/>
              </a:ext>
            </a:extLst>
          </p:cNvPr>
          <p:cNvSpPr/>
          <p:nvPr/>
        </p:nvSpPr>
        <p:spPr>
          <a:xfrm>
            <a:off x="2053939" y="602672"/>
            <a:ext cx="332509" cy="1974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CB</a:t>
            </a:r>
          </a:p>
        </p:txBody>
      </p:sp>
      <p:sp>
        <p:nvSpPr>
          <p:cNvPr id="51" name="Rectangle 50">
            <a:extLst>
              <a:ext uri="{FF2B5EF4-FFF2-40B4-BE49-F238E27FC236}">
                <a16:creationId xmlns:a16="http://schemas.microsoft.com/office/drawing/2014/main" id="{0BFB1377-FA4F-A1F4-9A06-1EC7B919F78E}"/>
              </a:ext>
            </a:extLst>
          </p:cNvPr>
          <p:cNvSpPr/>
          <p:nvPr/>
        </p:nvSpPr>
        <p:spPr>
          <a:xfrm>
            <a:off x="2547736" y="602672"/>
            <a:ext cx="332509" cy="1974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CB</a:t>
            </a:r>
          </a:p>
        </p:txBody>
      </p:sp>
      <p:sp>
        <p:nvSpPr>
          <p:cNvPr id="52" name="Rectangle 51">
            <a:extLst>
              <a:ext uri="{FF2B5EF4-FFF2-40B4-BE49-F238E27FC236}">
                <a16:creationId xmlns:a16="http://schemas.microsoft.com/office/drawing/2014/main" id="{73B378B7-F43B-1678-7855-01DFB6307D14}"/>
              </a:ext>
            </a:extLst>
          </p:cNvPr>
          <p:cNvSpPr/>
          <p:nvPr/>
        </p:nvSpPr>
        <p:spPr>
          <a:xfrm>
            <a:off x="3032413" y="602672"/>
            <a:ext cx="332509" cy="19742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800" dirty="0"/>
              <a:t>CB</a:t>
            </a:r>
          </a:p>
        </p:txBody>
      </p:sp>
      <p:cxnSp>
        <p:nvCxnSpPr>
          <p:cNvPr id="54" name="Straight Arrow Connector 53">
            <a:extLst>
              <a:ext uri="{FF2B5EF4-FFF2-40B4-BE49-F238E27FC236}">
                <a16:creationId xmlns:a16="http://schemas.microsoft.com/office/drawing/2014/main" id="{B3538119-32A6-EEE7-4E7D-FDC2C9859FD2}"/>
              </a:ext>
            </a:extLst>
          </p:cNvPr>
          <p:cNvCxnSpPr>
            <a:cxnSpLocks/>
            <a:stCxn id="47" idx="0"/>
            <a:endCxn id="18" idx="1"/>
          </p:cNvCxnSpPr>
          <p:nvPr/>
        </p:nvCxnSpPr>
        <p:spPr>
          <a:xfrm flipV="1">
            <a:off x="2137067" y="4156363"/>
            <a:ext cx="538592" cy="190154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FF4CB9D6-F9CF-AE68-02B0-4181706780D0}"/>
              </a:ext>
            </a:extLst>
          </p:cNvPr>
          <p:cNvCxnSpPr>
            <a:cxnSpLocks/>
            <a:stCxn id="48" idx="0"/>
            <a:endCxn id="19" idx="1"/>
          </p:cNvCxnSpPr>
          <p:nvPr/>
        </p:nvCxnSpPr>
        <p:spPr>
          <a:xfrm flipV="1">
            <a:off x="2665270" y="4156362"/>
            <a:ext cx="3534639" cy="190154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1" name="Straight Arrow Connector 60">
            <a:extLst>
              <a:ext uri="{FF2B5EF4-FFF2-40B4-BE49-F238E27FC236}">
                <a16:creationId xmlns:a16="http://schemas.microsoft.com/office/drawing/2014/main" id="{2C3BA214-930B-B762-8D47-B2C2E2546A37}"/>
              </a:ext>
            </a:extLst>
          </p:cNvPr>
          <p:cNvCxnSpPr>
            <a:cxnSpLocks/>
            <a:stCxn id="49" idx="3"/>
          </p:cNvCxnSpPr>
          <p:nvPr/>
        </p:nvCxnSpPr>
        <p:spPr>
          <a:xfrm flipV="1">
            <a:off x="3364922" y="5039591"/>
            <a:ext cx="5993823" cy="111702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861903E8-CE4A-77D7-5641-A176FBAA39D9}"/>
              </a:ext>
            </a:extLst>
          </p:cNvPr>
          <p:cNvCxnSpPr>
            <a:cxnSpLocks/>
            <a:endCxn id="15" idx="2"/>
          </p:cNvCxnSpPr>
          <p:nvPr/>
        </p:nvCxnSpPr>
        <p:spPr>
          <a:xfrm flipV="1">
            <a:off x="9358745" y="3792681"/>
            <a:ext cx="0" cy="124691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7" name="Straight Arrow Connector 66">
            <a:extLst>
              <a:ext uri="{FF2B5EF4-FFF2-40B4-BE49-F238E27FC236}">
                <a16:creationId xmlns:a16="http://schemas.microsoft.com/office/drawing/2014/main" id="{45B44C9B-C3B9-FECC-62EF-795DC9DEEB3E}"/>
              </a:ext>
            </a:extLst>
          </p:cNvPr>
          <p:cNvCxnSpPr>
            <a:cxnSpLocks/>
            <a:stCxn id="50" idx="2"/>
            <a:endCxn id="14" idx="0"/>
          </p:cNvCxnSpPr>
          <p:nvPr/>
        </p:nvCxnSpPr>
        <p:spPr>
          <a:xfrm>
            <a:off x="2220194" y="800094"/>
            <a:ext cx="1184560" cy="153786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0" name="Straight Arrow Connector 69">
            <a:extLst>
              <a:ext uri="{FF2B5EF4-FFF2-40B4-BE49-F238E27FC236}">
                <a16:creationId xmlns:a16="http://schemas.microsoft.com/office/drawing/2014/main" id="{B4E05877-9AB8-A53A-BFAC-F68011C5A6E5}"/>
              </a:ext>
            </a:extLst>
          </p:cNvPr>
          <p:cNvCxnSpPr>
            <a:cxnSpLocks/>
            <a:stCxn id="51" idx="2"/>
            <a:endCxn id="17" idx="1"/>
          </p:cNvCxnSpPr>
          <p:nvPr/>
        </p:nvCxnSpPr>
        <p:spPr>
          <a:xfrm>
            <a:off x="2713991" y="800094"/>
            <a:ext cx="3560386" cy="153786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3" name="Straight Arrow Connector 72">
            <a:extLst>
              <a:ext uri="{FF2B5EF4-FFF2-40B4-BE49-F238E27FC236}">
                <a16:creationId xmlns:a16="http://schemas.microsoft.com/office/drawing/2014/main" id="{80B3EAD5-E9F7-C216-96DE-5BB63267BE6B}"/>
              </a:ext>
            </a:extLst>
          </p:cNvPr>
          <p:cNvCxnSpPr>
            <a:cxnSpLocks/>
            <a:stCxn id="52" idx="3"/>
          </p:cNvCxnSpPr>
          <p:nvPr/>
        </p:nvCxnSpPr>
        <p:spPr>
          <a:xfrm>
            <a:off x="3364922" y="701383"/>
            <a:ext cx="7261514" cy="90920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6" name="Straight Arrow Connector 75">
            <a:extLst>
              <a:ext uri="{FF2B5EF4-FFF2-40B4-BE49-F238E27FC236}">
                <a16:creationId xmlns:a16="http://schemas.microsoft.com/office/drawing/2014/main" id="{C697EAF7-C08A-7470-800D-9C3F04CA6DEE}"/>
              </a:ext>
            </a:extLst>
          </p:cNvPr>
          <p:cNvCxnSpPr>
            <a:cxnSpLocks/>
            <a:endCxn id="16" idx="0"/>
          </p:cNvCxnSpPr>
          <p:nvPr/>
        </p:nvCxnSpPr>
        <p:spPr>
          <a:xfrm>
            <a:off x="10626436" y="1600200"/>
            <a:ext cx="103909" cy="147598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87" name="Straight Connector 86">
            <a:extLst>
              <a:ext uri="{FF2B5EF4-FFF2-40B4-BE49-F238E27FC236}">
                <a16:creationId xmlns:a16="http://schemas.microsoft.com/office/drawing/2014/main" id="{DF899C36-105B-02D2-5D2A-974D012588E0}"/>
              </a:ext>
            </a:extLst>
          </p:cNvPr>
          <p:cNvCxnSpPr>
            <a:cxnSpLocks/>
          </p:cNvCxnSpPr>
          <p:nvPr/>
        </p:nvCxnSpPr>
        <p:spPr>
          <a:xfrm>
            <a:off x="101312" y="602672"/>
            <a:ext cx="23379" cy="5652655"/>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03678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171F2-442C-6951-842C-6E75BC2A45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626067-4C9C-9D99-25E3-1130F6E17F8A}"/>
              </a:ext>
            </a:extLst>
          </p:cNvPr>
          <p:cNvSpPr>
            <a:spLocks noGrp="1"/>
          </p:cNvSpPr>
          <p:nvPr>
            <p:ph idx="1"/>
          </p:nvPr>
        </p:nvSpPr>
        <p:spPr/>
        <p:txBody>
          <a:bodyPr/>
          <a:lstStyle/>
          <a:p>
            <a:endParaRPr lang="en-US"/>
          </a:p>
        </p:txBody>
      </p:sp>
      <p:sp>
        <p:nvSpPr>
          <p:cNvPr id="5" name="Rectangle 4">
            <a:extLst>
              <a:ext uri="{FF2B5EF4-FFF2-40B4-BE49-F238E27FC236}">
                <a16:creationId xmlns:a16="http://schemas.microsoft.com/office/drawing/2014/main" id="{0DD1E04A-F69E-24F0-6F66-D5E6FA968A51}"/>
              </a:ext>
            </a:extLst>
          </p:cNvPr>
          <p:cNvSpPr/>
          <p:nvPr/>
        </p:nvSpPr>
        <p:spPr>
          <a:xfrm>
            <a:off x="0" y="0"/>
            <a:ext cx="12191999" cy="6858000"/>
          </a:xfrm>
          <a:prstGeom prst="rect">
            <a:avLst/>
          </a:prstGeom>
          <a:solidFill>
            <a:srgbClr val="0102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b="0" i="0" dirty="0">
              <a:solidFill>
                <a:srgbClr val="ECECEC"/>
              </a:solidFill>
              <a:effectLst/>
              <a:latin typeface="Söhne"/>
            </a:endParaRPr>
          </a:p>
        </p:txBody>
      </p:sp>
      <p:sp>
        <p:nvSpPr>
          <p:cNvPr id="6" name="TextBox 5">
            <a:extLst>
              <a:ext uri="{FF2B5EF4-FFF2-40B4-BE49-F238E27FC236}">
                <a16:creationId xmlns:a16="http://schemas.microsoft.com/office/drawing/2014/main" id="{9F56DC5C-3FBC-0D66-72A2-3D49B4243F37}"/>
              </a:ext>
            </a:extLst>
          </p:cNvPr>
          <p:cNvSpPr txBox="1"/>
          <p:nvPr/>
        </p:nvSpPr>
        <p:spPr>
          <a:xfrm>
            <a:off x="838200" y="681037"/>
            <a:ext cx="8204887" cy="5816977"/>
          </a:xfrm>
          <a:prstGeom prst="rect">
            <a:avLst/>
          </a:prstGeom>
          <a:noFill/>
        </p:spPr>
        <p:txBody>
          <a:bodyPr wrap="square" rtlCol="0">
            <a:spAutoFit/>
          </a:bodyPr>
          <a:lstStyle/>
          <a:p>
            <a:pPr algn="l"/>
            <a:r>
              <a:rPr lang="en-US" sz="2400" b="1" dirty="0">
                <a:solidFill>
                  <a:srgbClr val="ECECEC"/>
                </a:solidFill>
                <a:effectLst/>
                <a:latin typeface="Cadiz Bold" pitchFamily="2" charset="77"/>
              </a:rPr>
              <a:t>Design Rationale</a:t>
            </a:r>
          </a:p>
          <a:p>
            <a:pPr algn="l"/>
            <a:br>
              <a:rPr lang="en-US" dirty="0">
                <a:solidFill>
                  <a:srgbClr val="ECECEC"/>
                </a:solidFill>
                <a:effectLst/>
                <a:latin typeface="Cadiz" pitchFamily="2" charset="77"/>
              </a:rPr>
            </a:br>
            <a:r>
              <a:rPr lang="en-US" sz="1500" dirty="0">
                <a:solidFill>
                  <a:srgbClr val="ECECEC"/>
                </a:solidFill>
                <a:effectLst/>
                <a:latin typeface="Cadiz" pitchFamily="2" charset="77"/>
              </a:rPr>
              <a:t>System Architecture</a:t>
            </a:r>
          </a:p>
          <a:p>
            <a:pPr marL="742950" lvl="1" indent="-285750" algn="l">
              <a:buFont typeface="Arial" panose="020B0604020202020204" pitchFamily="34" charset="0"/>
              <a:buChar char="•"/>
            </a:pPr>
            <a:r>
              <a:rPr lang="en-US" sz="1500" dirty="0">
                <a:solidFill>
                  <a:srgbClr val="ECECEC"/>
                </a:solidFill>
                <a:effectLst/>
                <a:latin typeface="Cadiz" pitchFamily="2" charset="77"/>
              </a:rPr>
              <a:t>Three distribution panels (buses) were defined.  The primary buses are Engine 1 Generator Bus and Engine 4 Generator Bus.  The secondary bus, for essential systems, is the Main Battery Bus.  The primary buses share a connection for redundancy, so systems from one can be ran by the other, if required.  Both primary buses power the Main Battery Bus to ensure the battery is charged.  Essential systems are connected to the Main Battery Bus, which can provide limited power in the event of engine or generator failures.</a:t>
            </a:r>
            <a:endParaRPr lang="en-US" sz="1500" dirty="0">
              <a:solidFill>
                <a:srgbClr val="ECECEC"/>
              </a:solidFill>
              <a:latin typeface="Cadiz" pitchFamily="2" charset="77"/>
            </a:endParaRPr>
          </a:p>
          <a:p>
            <a:pPr algn="l"/>
            <a:endParaRPr lang="en-US" sz="1500" dirty="0">
              <a:solidFill>
                <a:srgbClr val="ECECEC"/>
              </a:solidFill>
              <a:effectLst/>
              <a:latin typeface="Cadiz" pitchFamily="2" charset="77"/>
            </a:endParaRPr>
          </a:p>
          <a:p>
            <a:pPr algn="l"/>
            <a:r>
              <a:rPr lang="en-US" sz="1500" dirty="0">
                <a:solidFill>
                  <a:srgbClr val="ECECEC"/>
                </a:solidFill>
                <a:effectLst/>
                <a:latin typeface="Cadiz" pitchFamily="2" charset="77"/>
              </a:rPr>
              <a:t>Circuit Breaker Selection</a:t>
            </a:r>
          </a:p>
          <a:p>
            <a:pPr marL="742950" lvl="1" indent="-285750" algn="l">
              <a:buFont typeface="Arial" panose="020B0604020202020204" pitchFamily="34" charset="0"/>
              <a:buChar char="•"/>
            </a:pPr>
            <a:r>
              <a:rPr lang="en-US" sz="1500" dirty="0">
                <a:solidFill>
                  <a:srgbClr val="ECECEC"/>
                </a:solidFill>
                <a:effectLst/>
                <a:latin typeface="Cadiz" pitchFamily="2" charset="77"/>
              </a:rPr>
              <a:t>All power consuming systems have a circuit breaker between them and their corresponding bus.  Magnetic circuit breakers were used for system’s connected to the Main Battery Bus, allowing pilots to reset the circuit breakers in the event of an overcurrent.  Thermal circuit breakers were used for systems connected to the primary buses.  These circuit breakers will require a member of the maintenance staff to investigate any issues related to the system.</a:t>
            </a:r>
          </a:p>
          <a:p>
            <a:pPr algn="l"/>
            <a:endParaRPr lang="en-US" sz="1500" dirty="0">
              <a:solidFill>
                <a:srgbClr val="ECECEC"/>
              </a:solidFill>
              <a:effectLst/>
              <a:latin typeface="Cadiz" pitchFamily="2" charset="77"/>
            </a:endParaRPr>
          </a:p>
          <a:p>
            <a:pPr algn="l"/>
            <a:r>
              <a:rPr lang="en-US" sz="1500" dirty="0">
                <a:solidFill>
                  <a:srgbClr val="ECECEC"/>
                </a:solidFill>
                <a:effectLst/>
                <a:latin typeface="Cadiz" pitchFamily="2" charset="77"/>
              </a:rPr>
              <a:t>Compliance with Industry Standards</a:t>
            </a:r>
          </a:p>
          <a:p>
            <a:pPr marL="742950" lvl="1" indent="-285750" algn="l">
              <a:buFont typeface="Arial" panose="020B0604020202020204" pitchFamily="34" charset="0"/>
              <a:buChar char="•"/>
            </a:pPr>
            <a:r>
              <a:rPr lang="en-US" sz="1500" dirty="0">
                <a:solidFill>
                  <a:srgbClr val="ECECEC"/>
                </a:solidFill>
                <a:effectLst/>
                <a:latin typeface="Cadiz" pitchFamily="2" charset="77"/>
              </a:rPr>
              <a:t>FAA advisory circular 25.1357-1A was referenced when creating this system.  This advisory circular provides guidance for demonstrating compliance with aircraft certification requirements of 14 CFR 25.1357.  14 CFR 25.1357 was used to guide the selection of circuit breakers for this system.  14 CFR 25.1355 was used to guide the design of this distribution system.  Compliance with industry standards was maintained in order to create a safe, robust, and efficient system.</a:t>
            </a:r>
            <a:endParaRPr lang="en-US" sz="1500" dirty="0">
              <a:latin typeface="Cadiz" pitchFamily="2" charset="77"/>
            </a:endParaRPr>
          </a:p>
        </p:txBody>
      </p:sp>
    </p:spTree>
    <p:extLst>
      <p:ext uri="{BB962C8B-B14F-4D97-AF65-F5344CB8AC3E}">
        <p14:creationId xmlns:p14="http://schemas.microsoft.com/office/powerpoint/2010/main" val="1263570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171F2-442C-6951-842C-6E75BC2A45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626067-4C9C-9D99-25E3-1130F6E17F8A}"/>
              </a:ext>
            </a:extLst>
          </p:cNvPr>
          <p:cNvSpPr>
            <a:spLocks noGrp="1"/>
          </p:cNvSpPr>
          <p:nvPr>
            <p:ph idx="1"/>
          </p:nvPr>
        </p:nvSpPr>
        <p:spPr/>
        <p:txBody>
          <a:bodyPr/>
          <a:lstStyle/>
          <a:p>
            <a:endParaRPr lang="en-US"/>
          </a:p>
        </p:txBody>
      </p:sp>
      <p:sp>
        <p:nvSpPr>
          <p:cNvPr id="5" name="Rectangle 4">
            <a:extLst>
              <a:ext uri="{FF2B5EF4-FFF2-40B4-BE49-F238E27FC236}">
                <a16:creationId xmlns:a16="http://schemas.microsoft.com/office/drawing/2014/main" id="{0DD1E04A-F69E-24F0-6F66-D5E6FA968A51}"/>
              </a:ext>
            </a:extLst>
          </p:cNvPr>
          <p:cNvSpPr/>
          <p:nvPr/>
        </p:nvSpPr>
        <p:spPr>
          <a:xfrm>
            <a:off x="0" y="0"/>
            <a:ext cx="12191999" cy="6858000"/>
          </a:xfrm>
          <a:prstGeom prst="rect">
            <a:avLst/>
          </a:prstGeom>
          <a:solidFill>
            <a:srgbClr val="01023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b="0" i="0" dirty="0">
              <a:solidFill>
                <a:srgbClr val="ECECEC"/>
              </a:solidFill>
              <a:effectLst/>
              <a:latin typeface="Söhne"/>
            </a:endParaRPr>
          </a:p>
        </p:txBody>
      </p:sp>
      <p:sp>
        <p:nvSpPr>
          <p:cNvPr id="6" name="TextBox 5">
            <a:extLst>
              <a:ext uri="{FF2B5EF4-FFF2-40B4-BE49-F238E27FC236}">
                <a16:creationId xmlns:a16="http://schemas.microsoft.com/office/drawing/2014/main" id="{9F56DC5C-3FBC-0D66-72A2-3D49B4243F37}"/>
              </a:ext>
            </a:extLst>
          </p:cNvPr>
          <p:cNvSpPr txBox="1"/>
          <p:nvPr/>
        </p:nvSpPr>
        <p:spPr>
          <a:xfrm>
            <a:off x="838200" y="681037"/>
            <a:ext cx="8204887" cy="5632311"/>
          </a:xfrm>
          <a:prstGeom prst="rect">
            <a:avLst/>
          </a:prstGeom>
          <a:noFill/>
        </p:spPr>
        <p:txBody>
          <a:bodyPr wrap="square" rtlCol="0">
            <a:spAutoFit/>
          </a:bodyPr>
          <a:lstStyle/>
          <a:p>
            <a:pPr algn="l"/>
            <a:r>
              <a:rPr lang="en-US" sz="2400" b="1" dirty="0">
                <a:solidFill>
                  <a:srgbClr val="ECECEC"/>
                </a:solidFill>
                <a:effectLst/>
                <a:latin typeface="Cadiz Bold" pitchFamily="2" charset="77"/>
              </a:rPr>
              <a:t>Verification Procedure Outline</a:t>
            </a:r>
          </a:p>
          <a:p>
            <a:pPr algn="l"/>
            <a:br>
              <a:rPr lang="en-US" dirty="0">
                <a:solidFill>
                  <a:srgbClr val="ECECEC"/>
                </a:solidFill>
                <a:effectLst/>
                <a:latin typeface="Cadiz" pitchFamily="2" charset="77"/>
              </a:rPr>
            </a:br>
            <a:r>
              <a:rPr lang="en-US" sz="1500" dirty="0">
                <a:solidFill>
                  <a:srgbClr val="ECECEC"/>
                </a:solidFill>
                <a:effectLst/>
                <a:latin typeface="Cadiz" pitchFamily="2" charset="77"/>
              </a:rPr>
              <a:t>Testing Objectives</a:t>
            </a:r>
          </a:p>
          <a:p>
            <a:pPr marL="742950" lvl="1" indent="-285750" algn="l">
              <a:buFont typeface="Arial" panose="020B0604020202020204" pitchFamily="34" charset="0"/>
              <a:buChar char="•"/>
            </a:pPr>
            <a:r>
              <a:rPr lang="en-US" sz="1500" dirty="0">
                <a:solidFill>
                  <a:srgbClr val="ECECEC"/>
                </a:solidFill>
                <a:effectLst/>
                <a:latin typeface="Cadiz" pitchFamily="2" charset="77"/>
              </a:rPr>
              <a:t>The main objective of this verification procedure is to ensure our system performs its intended function under any foreseeable operating condition.  We will ensure that the occurrence of any failure condition which would prevent the continued safe flight and landing of the airplane is extremely improbable.</a:t>
            </a:r>
            <a:br>
              <a:rPr lang="en-US" sz="1500" dirty="0">
                <a:solidFill>
                  <a:srgbClr val="ECECEC"/>
                </a:solidFill>
                <a:effectLst/>
                <a:latin typeface="Cadiz" pitchFamily="2" charset="77"/>
              </a:rPr>
            </a:br>
            <a:endParaRPr lang="en-US" sz="1500" dirty="0">
              <a:solidFill>
                <a:srgbClr val="ECECEC"/>
              </a:solidFill>
              <a:effectLst/>
              <a:latin typeface="Cadiz" pitchFamily="2" charset="77"/>
            </a:endParaRPr>
          </a:p>
          <a:p>
            <a:pPr algn="l"/>
            <a:r>
              <a:rPr lang="en-US" sz="1500" dirty="0">
                <a:solidFill>
                  <a:srgbClr val="ECECEC"/>
                </a:solidFill>
                <a:effectLst/>
                <a:latin typeface="Cadiz" pitchFamily="2" charset="77"/>
              </a:rPr>
              <a:t>Test Methods</a:t>
            </a:r>
          </a:p>
          <a:p>
            <a:pPr marL="742950" lvl="1" indent="-285750" algn="l">
              <a:buFont typeface="Arial" panose="020B0604020202020204" pitchFamily="34" charset="0"/>
              <a:buChar char="•"/>
            </a:pPr>
            <a:r>
              <a:rPr lang="en-US" sz="1500" dirty="0">
                <a:solidFill>
                  <a:srgbClr val="ECECEC"/>
                </a:solidFill>
                <a:effectLst/>
                <a:latin typeface="Cadiz" pitchFamily="2" charset="77"/>
              </a:rPr>
              <a:t>Verification will be shown by engineering and simulation analysis, and where necessary, by appropriate ground, flight, or simulator tests.  Environmental testing chambers will be used to validate the system’s capability to withstand various temperatures at various humidity levels.  Ground tests will be used to validate the system’s ability to withstand various frequencies of vibration.</a:t>
            </a:r>
            <a:br>
              <a:rPr lang="en-US" sz="1500" dirty="0">
                <a:solidFill>
                  <a:srgbClr val="ECECEC"/>
                </a:solidFill>
                <a:effectLst/>
                <a:latin typeface="Cadiz" pitchFamily="2" charset="77"/>
              </a:rPr>
            </a:br>
            <a:endParaRPr lang="en-US" sz="1500" dirty="0">
              <a:solidFill>
                <a:srgbClr val="ECECEC"/>
              </a:solidFill>
              <a:effectLst/>
              <a:latin typeface="Cadiz" pitchFamily="2" charset="77"/>
            </a:endParaRPr>
          </a:p>
          <a:p>
            <a:pPr algn="l"/>
            <a:r>
              <a:rPr lang="en-US" sz="1500" dirty="0">
                <a:solidFill>
                  <a:srgbClr val="ECECEC"/>
                </a:solidFill>
                <a:effectLst/>
                <a:latin typeface="Cadiz" pitchFamily="2" charset="77"/>
              </a:rPr>
              <a:t>Expected Outcomes</a:t>
            </a:r>
          </a:p>
          <a:p>
            <a:pPr marL="742950" lvl="1" indent="-285750" algn="l">
              <a:buFont typeface="Arial" panose="020B0604020202020204" pitchFamily="34" charset="0"/>
              <a:buChar char="•"/>
            </a:pPr>
            <a:r>
              <a:rPr lang="en-US" sz="1500" dirty="0">
                <a:solidFill>
                  <a:srgbClr val="ECECEC"/>
                </a:solidFill>
                <a:effectLst/>
                <a:latin typeface="Cadiz" pitchFamily="2" charset="77"/>
              </a:rPr>
              <a:t>Our tests will consider all possible modes of failure, including malfunctions and damage from external sources, the probability of multiple failures and undetected failures, the resulting effects on the airplane and occupants, considering the stage of flight and operating conditions, and the crew warning cues, corrective action required, and the capability of detecting faults.  </a:t>
            </a:r>
            <a:r>
              <a:rPr lang="en-US" sz="1500" dirty="0">
                <a:solidFill>
                  <a:srgbClr val="ECECEC"/>
                </a:solidFill>
                <a:latin typeface="Cadiz" pitchFamily="2" charset="77"/>
              </a:rPr>
              <a:t>Test</a:t>
            </a:r>
            <a:r>
              <a:rPr lang="en-US" sz="1500" dirty="0">
                <a:solidFill>
                  <a:srgbClr val="ECECEC"/>
                </a:solidFill>
                <a:effectLst/>
                <a:latin typeface="Cadiz" pitchFamily="2" charset="77"/>
              </a:rPr>
              <a:t> results and detailed </a:t>
            </a:r>
            <a:r>
              <a:rPr lang="en-US" sz="1500" dirty="0" err="1">
                <a:solidFill>
                  <a:srgbClr val="ECECEC"/>
                </a:solidFill>
                <a:effectLst/>
                <a:latin typeface="Cadiz" pitchFamily="2" charset="77"/>
              </a:rPr>
              <a:t>anaylsis</a:t>
            </a:r>
            <a:r>
              <a:rPr lang="en-US" sz="1500">
                <a:solidFill>
                  <a:srgbClr val="ECECEC"/>
                </a:solidFill>
                <a:effectLst/>
                <a:latin typeface="Cadiz" pitchFamily="2" charset="77"/>
              </a:rPr>
              <a:t> </a:t>
            </a:r>
            <a:r>
              <a:rPr lang="en-US" sz="1500" dirty="0">
                <a:solidFill>
                  <a:srgbClr val="ECECEC"/>
                </a:solidFill>
                <a:effectLst/>
                <a:latin typeface="Cadiz" pitchFamily="2" charset="77"/>
              </a:rPr>
              <a:t>will enable us to make any necessary design changes to ensure our system exceeds all compliance and safety standards.</a:t>
            </a:r>
          </a:p>
          <a:p>
            <a:endParaRPr lang="en-US" dirty="0">
              <a:latin typeface="Cadiz" pitchFamily="2" charset="77"/>
            </a:endParaRPr>
          </a:p>
        </p:txBody>
      </p:sp>
    </p:spTree>
    <p:extLst>
      <p:ext uri="{BB962C8B-B14F-4D97-AF65-F5344CB8AC3E}">
        <p14:creationId xmlns:p14="http://schemas.microsoft.com/office/powerpoint/2010/main" val="2365147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1248</TotalTime>
  <Words>777</Words>
  <Application>Microsoft Macintosh PowerPoint</Application>
  <PresentationFormat>Widescreen</PresentationFormat>
  <Paragraphs>62</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Aptos Display</vt:lpstr>
      <vt:lpstr>Arial</vt:lpstr>
      <vt:lpstr>Cadiz</vt:lpstr>
      <vt:lpstr>Cadiz Bold</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Garrett Chappell</dc:creator>
  <cp:lastModifiedBy>Aimee Young</cp:lastModifiedBy>
  <cp:revision>39</cp:revision>
  <dcterms:created xsi:type="dcterms:W3CDTF">2024-02-29T03:27:48Z</dcterms:created>
  <dcterms:modified xsi:type="dcterms:W3CDTF">2024-03-12T16:26:19Z</dcterms:modified>
</cp:coreProperties>
</file>