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06" name="Google Shape;106;p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ircraft jet engine turbine" id="107" name="Google Shape;107;p13"/>
          <p:cNvPicPr preferRelativeResize="0"/>
          <p:nvPr/>
        </p:nvPicPr>
        <p:blipFill rotWithShape="1">
          <a:blip r:embed="rId3">
            <a:alphaModFix/>
          </a:blip>
          <a:srcRect b="15605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7006281" y="5472877"/>
            <a:ext cx="51858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 Aerospace</a:t>
            </a:r>
            <a:b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Electrical Engineering Task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3C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ECECE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03184" y="520074"/>
            <a:ext cx="8205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rPr>
              <a:t>Design Your Power Distribution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503184" y="1134439"/>
            <a:ext cx="4257600" cy="5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design your power distribution system in PowerPoint, consider the following guidelines on how to use shapes to represent different components: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Lines and Arrows: </a:t>
            </a:r>
            <a: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these to depict electrical connections between components. For example, a solid line could represent primary power connections, while a dashed line might indicate secondary or backup connections.</a:t>
            </a:r>
            <a:b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Rectangles and Squares: </a:t>
            </a:r>
            <a: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Ideal for representing distribution panels and circuit breakers. You can use labels or different colors to differentiate between primary and secondary panels.</a:t>
            </a:r>
            <a:b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Circles or Ellipses: </a:t>
            </a:r>
            <a: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These could symbolize generators or other power sources. Position them at the beginning of your power flow diagram to indicate where the power originates.  Engine 1 generator, engine 4 generator, and the main battery are common power sources, shown on the following diagram.</a:t>
            </a:r>
            <a:b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Triangles or Diamonds:</a:t>
            </a:r>
            <a: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Use these shapes to denote electrical and avionics systems that require reliable power from the distribution panels.  Common systems are shown on the following diagram.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Remember, each shape's size, color, and placement should help clarify the system's layout and operation, making it intuitive for someone else to understand your design rationale.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aircraft diagram on the next slide to design your power distribution system.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rawing of an airplane&#10;&#10;Description automatically generated" id="117" name="Google Shape;11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2022" r="14937" t="0"/>
          <a:stretch/>
        </p:blipFill>
        <p:spPr>
          <a:xfrm>
            <a:off x="5573485" y="1027905"/>
            <a:ext cx="5640300" cy="51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0076" y="-32"/>
            <a:ext cx="749184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"/>
          <p:cNvSpPr/>
          <p:nvPr/>
        </p:nvSpPr>
        <p:spPr>
          <a:xfrm>
            <a:off x="4454236" y="5143500"/>
            <a:ext cx="893700" cy="509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 1 Generator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4454236" y="1132608"/>
            <a:ext cx="893700" cy="509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 4 Generator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2362200" y="3199924"/>
            <a:ext cx="713400" cy="458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Battery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5254300" y="2945875"/>
            <a:ext cx="713400" cy="1067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Secondary Panels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2718954" y="2337955"/>
            <a:ext cx="1371600" cy="727500"/>
          </a:xfrm>
          <a:prstGeom prst="diamond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Pilot Windshield Anti-Ice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8672945" y="3065318"/>
            <a:ext cx="1371600" cy="727500"/>
          </a:xfrm>
          <a:prstGeom prst="diamond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Pitch Trim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0044545" y="3076186"/>
            <a:ext cx="1371600" cy="727500"/>
          </a:xfrm>
          <a:prstGeom prst="diamond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Yaw Damper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6274377" y="1974273"/>
            <a:ext cx="1371600" cy="727500"/>
          </a:xfrm>
          <a:prstGeom prst="diamond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Bleed Air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2675659" y="3792681"/>
            <a:ext cx="1458300" cy="727500"/>
          </a:xfrm>
          <a:prstGeom prst="diamond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Conditioner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6199909" y="3792680"/>
            <a:ext cx="1371600" cy="727500"/>
          </a:xfrm>
          <a:prstGeom prst="diamond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Strobe Light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3364922" y="4374573"/>
            <a:ext cx="1451400" cy="727500"/>
          </a:xfrm>
          <a:prstGeom prst="diamond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Fire Extinguisher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894609" y="1895865"/>
            <a:ext cx="1371600" cy="727500"/>
          </a:xfrm>
          <a:prstGeom prst="diamond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Navigation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 rot="-5400000">
            <a:off x="4203100" y="3145925"/>
            <a:ext cx="985500" cy="53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Primary panels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"/>
          <p:cNvCxnSpPr>
            <a:stCxn id="156" idx="4"/>
            <a:endCxn id="168" idx="1"/>
          </p:cNvCxnSpPr>
          <p:nvPr/>
        </p:nvCxnSpPr>
        <p:spPr>
          <a:xfrm flipH="1" rot="5400000">
            <a:off x="3925936" y="4677450"/>
            <a:ext cx="1745100" cy="205200"/>
          </a:xfrm>
          <a:prstGeom prst="bentConnector5">
            <a:avLst>
              <a:gd fmla="val -13645" name="adj1"/>
              <a:gd fmla="val 333808" name="adj2"/>
              <a:gd fmla="val 64583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"/>
          <p:cNvCxnSpPr>
            <a:stCxn id="157" idx="2"/>
            <a:endCxn id="168" idx="3"/>
          </p:cNvCxnSpPr>
          <p:nvPr/>
        </p:nvCxnSpPr>
        <p:spPr>
          <a:xfrm>
            <a:off x="4454236" y="1387158"/>
            <a:ext cx="241500" cy="1535100"/>
          </a:xfrm>
          <a:prstGeom prst="bentConnector4">
            <a:avLst>
              <a:gd fmla="val -98602" name="adj1"/>
              <a:gd fmla="val 5828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"/>
          <p:cNvCxnSpPr>
            <a:stCxn id="168" idx="2"/>
            <a:endCxn id="159" idx="1"/>
          </p:cNvCxnSpPr>
          <p:nvPr/>
        </p:nvCxnSpPr>
        <p:spPr>
          <a:xfrm>
            <a:off x="4964800" y="3414875"/>
            <a:ext cx="289500" cy="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"/>
          <p:cNvCxnSpPr>
            <a:stCxn id="159" idx="3"/>
            <a:endCxn id="173" idx="3"/>
          </p:cNvCxnSpPr>
          <p:nvPr/>
        </p:nvCxnSpPr>
        <p:spPr>
          <a:xfrm flipH="1" rot="10800000">
            <a:off x="5967700" y="3395125"/>
            <a:ext cx="214500" cy="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"/>
          <p:cNvCxnSpPr>
            <a:stCxn id="163" idx="2"/>
            <a:endCxn id="159" idx="3"/>
          </p:cNvCxnSpPr>
          <p:nvPr/>
        </p:nvCxnSpPr>
        <p:spPr>
          <a:xfrm flipH="1">
            <a:off x="5967777" y="2701773"/>
            <a:ext cx="992400" cy="77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"/>
          <p:cNvCxnSpPr>
            <a:stCxn id="159" idx="3"/>
            <a:endCxn id="161" idx="1"/>
          </p:cNvCxnSpPr>
          <p:nvPr/>
        </p:nvCxnSpPr>
        <p:spPr>
          <a:xfrm flipH="1" rot="10800000">
            <a:off x="5967700" y="3429025"/>
            <a:ext cx="2705100" cy="5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"/>
          <p:cNvCxnSpPr>
            <a:stCxn id="159" idx="2"/>
            <a:endCxn id="165" idx="1"/>
          </p:cNvCxnSpPr>
          <p:nvPr/>
        </p:nvCxnSpPr>
        <p:spPr>
          <a:xfrm>
            <a:off x="5611000" y="4013575"/>
            <a:ext cx="588900" cy="14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"/>
          <p:cNvCxnSpPr>
            <a:stCxn id="167" idx="3"/>
            <a:endCxn id="159" idx="0"/>
          </p:cNvCxnSpPr>
          <p:nvPr/>
        </p:nvCxnSpPr>
        <p:spPr>
          <a:xfrm>
            <a:off x="3266209" y="2259615"/>
            <a:ext cx="2344800" cy="68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"/>
          <p:cNvCxnSpPr>
            <a:stCxn id="164" idx="2"/>
            <a:endCxn id="159" idx="2"/>
          </p:cNvCxnSpPr>
          <p:nvPr/>
        </p:nvCxnSpPr>
        <p:spPr>
          <a:xfrm flipH="1" rot="10800000">
            <a:off x="3404809" y="4013481"/>
            <a:ext cx="2206200" cy="50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"/>
          <p:cNvCxnSpPr>
            <a:stCxn id="160" idx="2"/>
            <a:endCxn id="159" idx="2"/>
          </p:cNvCxnSpPr>
          <p:nvPr/>
        </p:nvCxnSpPr>
        <p:spPr>
          <a:xfrm>
            <a:off x="3404754" y="3065455"/>
            <a:ext cx="2206200" cy="9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"/>
          <p:cNvCxnSpPr>
            <a:stCxn id="166" idx="2"/>
            <a:endCxn id="159" idx="2"/>
          </p:cNvCxnSpPr>
          <p:nvPr/>
        </p:nvCxnSpPr>
        <p:spPr>
          <a:xfrm flipH="1" rot="10800000">
            <a:off x="4090622" y="4013673"/>
            <a:ext cx="1520400" cy="108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"/>
          <p:cNvCxnSpPr>
            <a:stCxn id="159" idx="2"/>
            <a:endCxn id="161" idx="2"/>
          </p:cNvCxnSpPr>
          <p:nvPr/>
        </p:nvCxnSpPr>
        <p:spPr>
          <a:xfrm flipH="1" rot="10800000">
            <a:off x="5611000" y="3792775"/>
            <a:ext cx="3747600" cy="22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"/>
          <p:cNvCxnSpPr>
            <a:stCxn id="159" idx="3"/>
            <a:endCxn id="162" idx="2"/>
          </p:cNvCxnSpPr>
          <p:nvPr/>
        </p:nvCxnSpPr>
        <p:spPr>
          <a:xfrm>
            <a:off x="5967700" y="3479725"/>
            <a:ext cx="4762500" cy="3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"/>
          <p:cNvCxnSpPr>
            <a:stCxn id="158" idx="3"/>
            <a:endCxn id="159" idx="0"/>
          </p:cNvCxnSpPr>
          <p:nvPr/>
        </p:nvCxnSpPr>
        <p:spPr>
          <a:xfrm rot="-5400000">
            <a:off x="3716325" y="1696287"/>
            <a:ext cx="645000" cy="3144300"/>
          </a:xfrm>
          <a:prstGeom prst="bentConnector5">
            <a:avLst>
              <a:gd fmla="val -47320" name="adj1"/>
              <a:gd fmla="val 54011" name="adj2"/>
              <a:gd fmla="val 136928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3C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ECECE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38200" y="0"/>
            <a:ext cx="11353800" cy="7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rPr>
              <a:t>Design Rationale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System Architecture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Split-Bus &amp; Dual Redundancy: Engine 1 and 4 Generators power isolated Primary Distribution Panels to isolate faults.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Secondary Panel Segregation: Primary buses step down power to Secondary Panels, separating critical flight loads (Pitch Trim, Yaw Damper) from non-critical loads (Cabin Air Conditioner).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Emergency Battery Backup: Main Battery links directly to essential buses for immediate emergency takeover during total generator loss.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Circuit Breaker Selection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Thermal-Magnetic Breakers: Selected for primary panels to handle high surge currents while protecting against prolonged overloads.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Solid-State Power Controllers (SSPCs): Used in secondary avionics panels for fast, wear-free electronic tripping and real-time status telemetry.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Critical Path Isolation: Individual breakers assigned to each load to prevent single-point failures from dropping entire sub-systems.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Compliance with Industry Standards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FAA / EASA Part 25 Alignment: Meets transport category safety rules for electrical isolation and dual-redundancy.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DO-160 Environmental Compliance: Formulated to meet rigorous standards for temperature, moisture ingress, and vibration tolerance.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System Safety Assessment (ARP4761): Architecture eliminates common-cause failures across flight-critical controls.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3C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ECECE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838200" y="139525"/>
            <a:ext cx="10515600" cy="6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rPr>
              <a:t>Verification Procedure Outline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rgbClr val="ECECEC"/>
                </a:solidFill>
              </a:rPr>
              <a:t>Testing Objectives</a:t>
            </a:r>
            <a:endParaRPr b="1"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Redundancy Validation: Verify automatic failover to secondary panels and main battery if an engine generator fails.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Environmental Survival: Ensure panels and breakers endure flight-level thermal and mechanical stress.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Isolation Control: Confirm circuit breakers trip locally before power surge cascades across main buses.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T</a:t>
            </a:r>
            <a:r>
              <a:rPr b="1" lang="en-US" sz="1800">
                <a:solidFill>
                  <a:srgbClr val="ECECEC"/>
                </a:solidFill>
              </a:rPr>
              <a:t>est Methods &amp; Stress Simulations</a:t>
            </a:r>
            <a:endParaRPr b="1"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Temperature: Cycle panels from $-55^\circ\text{C}$ (high altitude) to $+70^\circ\text{C}$ (engine bay) under max load.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Humidity: Expose sub-panels to $95\%$ RH cycling to test insulation and prevent short circuits.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Vibration: Mount breakers on a 3-axis shaker table simulating engine noise and severe turbulence to prevent false trips.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CECEC"/>
                </a:solidFill>
              </a:rPr>
              <a:t>Expected Outcomes</a:t>
            </a:r>
            <a:endParaRPr b="1"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Zero Power Loss: Continuous operation of critical flight systems (Yaw Damper, Pitch Trim) during generator failure. </a:t>
            </a:r>
            <a:endParaRPr sz="1800">
              <a:solidFill>
                <a:srgbClr val="ECECE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EC"/>
                </a:solidFill>
              </a:rPr>
              <a:t>Structural Integrity: Zero trip failures under peak vibration and zero moisture ingress during humidity tests</a:t>
            </a:r>
            <a:endParaRPr sz="1800">
              <a:solidFill>
                <a:srgbClr val="ECECE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